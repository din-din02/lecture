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72" r:id="rId8"/>
    <p:sldId id="276" r:id="rId9"/>
    <p:sldId id="273" r:id="rId10"/>
    <p:sldId id="274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Evolventa" panose="020B0604020202020204" charset="0"/>
      <p:regular r:id="rId16"/>
    </p:embeddedFont>
    <p:embeddedFont>
      <p:font typeface="Evolventa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3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02445" y="1866911"/>
            <a:ext cx="8217084" cy="5729812"/>
            <a:chOff x="0" y="-104140"/>
            <a:chExt cx="10956112" cy="7639749"/>
          </a:xfrm>
        </p:grpSpPr>
        <p:sp>
          <p:nvSpPr>
            <p:cNvPr id="3" name="TextBox 3"/>
            <p:cNvSpPr txBox="1"/>
            <p:nvPr/>
          </p:nvSpPr>
          <p:spPr>
            <a:xfrm>
              <a:off x="0" y="911845"/>
              <a:ext cx="10956112" cy="56083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59"/>
                </a:lnSpc>
              </a:pPr>
              <a:r>
                <a:rPr lang="ru-RU" sz="8000" b="1" dirty="0">
                  <a:solidFill>
                    <a:srgbClr val="F7B4A7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Понятие инкапсуляции. Виды атрибутов и методов</a:t>
              </a:r>
              <a:endParaRPr lang="en-US" sz="8000" b="1" dirty="0">
                <a:solidFill>
                  <a:srgbClr val="F7B4A7"/>
                </a:solidFill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140"/>
              <a:ext cx="10956112" cy="467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ru-RU" sz="2250" spc="418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КАФЕДРА №13</a:t>
              </a:r>
              <a:endParaRPr lang="en-US" sz="2250" spc="418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663660"/>
              <a:ext cx="10956112" cy="871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10"/>
                </a:lnSpc>
              </a:pPr>
              <a:r>
                <a:rPr lang="ru-RU" sz="415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ЛИТВИНОВ ВЛАДИСЛАВ</a:t>
              </a:r>
              <a:endParaRPr lang="en-US" sz="4150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182834" y="-1921745"/>
            <a:ext cx="6755642" cy="41148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03834" y="1790711"/>
            <a:ext cx="1194327" cy="2586142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2095190" y="202115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947148" y="1264426"/>
            <a:ext cx="3144039" cy="2440918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4872" y="5005800"/>
            <a:ext cx="1894295" cy="42525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1803" y="7612736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02264" y="1512916"/>
            <a:ext cx="8592473" cy="6707018"/>
            <a:chOff x="0" y="-228600"/>
            <a:chExt cx="11456630" cy="8942690"/>
          </a:xfrm>
        </p:grpSpPr>
        <p:sp>
          <p:nvSpPr>
            <p:cNvPr id="3" name="TextBox 3"/>
            <p:cNvSpPr txBox="1"/>
            <p:nvPr/>
          </p:nvSpPr>
          <p:spPr>
            <a:xfrm>
              <a:off x="481673" y="-228600"/>
              <a:ext cx="6723776" cy="1400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89"/>
                </a:lnSpc>
              </a:pPr>
              <a:r>
                <a:rPr lang="ru-RU" sz="7574" b="1" dirty="0">
                  <a:solidFill>
                    <a:srgbClr val="F7B4A7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ВОПРОСЫ</a:t>
              </a:r>
              <a:endParaRPr lang="en-US" sz="7574" b="1" dirty="0">
                <a:solidFill>
                  <a:srgbClr val="F7B4A7"/>
                </a:solidFill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81673" y="2213094"/>
              <a:ext cx="7537706" cy="1525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84"/>
                </a:lnSpc>
              </a:pPr>
              <a:r>
                <a:rPr lang="ru-RU" sz="2899" spc="347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ЯКОРЯ </a:t>
              </a:r>
              <a:r>
                <a:rPr lang="en-US" sz="2899" spc="347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В ЭТОЙ ПРЕЗЕНТАЦИИ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478828"/>
              <a:ext cx="11456630" cy="4235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0" lvl="1" indent="-280670" algn="just">
                <a:lnSpc>
                  <a:spcPts val="3640"/>
                </a:lnSpc>
                <a:buFont typeface="Arial"/>
                <a:buChar char="•"/>
              </a:pPr>
              <a:r>
                <a:rPr lang="ru-RU" sz="26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Декораторы в </a:t>
              </a:r>
              <a:r>
                <a:rPr lang="en-US" sz="26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Python</a:t>
              </a:r>
            </a:p>
            <a:p>
              <a:pPr marL="561340" lvl="1" indent="-280670" algn="just">
                <a:lnSpc>
                  <a:spcPts val="3640"/>
                </a:lnSpc>
                <a:buFont typeface="Arial"/>
                <a:buChar char="•"/>
              </a:pPr>
              <a:endParaRPr lang="ru-RU" sz="2600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marL="561340" lvl="1" indent="-280670" algn="just">
                <a:lnSpc>
                  <a:spcPts val="3640"/>
                </a:lnSpc>
                <a:buFont typeface="Arial"/>
                <a:buChar char="•"/>
              </a:pPr>
              <a:r>
                <a:rPr lang="ru-RU" sz="26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Понятие инкапсуляции. Применение инкапсуляции</a:t>
              </a:r>
              <a:endParaRPr lang="en-US" sz="2600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marL="561340" lvl="1" indent="-280670" algn="just">
                <a:lnSpc>
                  <a:spcPts val="3640"/>
                </a:lnSpc>
                <a:buFont typeface="Arial"/>
                <a:buChar char="•"/>
              </a:pPr>
              <a:endParaRPr lang="en-US" sz="2600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marL="561340" lvl="1" indent="-280670" algn="just">
                <a:lnSpc>
                  <a:spcPts val="3640"/>
                </a:lnSpc>
                <a:buFont typeface="Arial"/>
                <a:buChar char="•"/>
              </a:pPr>
              <a:r>
                <a:rPr lang="ru-RU" sz="26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Методы и атрибуты. Геттеры и сеттеры. Модификаторы доступа</a:t>
              </a:r>
              <a:endParaRPr lang="en-US" sz="2600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309758" y="1684366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6" y="0"/>
                </a:lnTo>
                <a:lnTo>
                  <a:pt x="3874546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80976" y="2475095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5"/>
                </a:lnTo>
                <a:lnTo>
                  <a:pt x="0" y="5122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495732" y="3214319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82400" y="419100"/>
            <a:ext cx="5131837" cy="4114800"/>
          </a:xfrm>
          <a:custGeom>
            <a:avLst/>
            <a:gdLst/>
            <a:ahLst/>
            <a:cxnLst/>
            <a:rect l="l" t="t" r="r" b="b"/>
            <a:pathLst>
              <a:path w="5131837" h="4114800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90600" y="876300"/>
            <a:ext cx="9768230" cy="8229600"/>
            <a:chOff x="0" y="-207645"/>
            <a:chExt cx="13024306" cy="10972807"/>
          </a:xfrm>
        </p:grpSpPr>
        <p:sp>
          <p:nvSpPr>
            <p:cNvPr id="4" name="TextBox 4"/>
            <p:cNvSpPr txBox="1"/>
            <p:nvPr/>
          </p:nvSpPr>
          <p:spPr>
            <a:xfrm>
              <a:off x="0" y="-207645"/>
              <a:ext cx="13024306" cy="25017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ru-RU" sz="6400" dirty="0">
                  <a:solidFill>
                    <a:srgbClr val="31356E"/>
                  </a:solidFill>
                  <a:latin typeface="Evolventa"/>
                  <a:ea typeface="Evolventa"/>
                  <a:cs typeface="Evolventa"/>
                  <a:sym typeface="Evolventa"/>
                </a:rPr>
                <a:t>Что такое декоратор </a:t>
              </a:r>
              <a:endParaRPr lang="en-US" sz="6400" dirty="0">
                <a:solidFill>
                  <a:srgbClr val="31356E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algn="l">
                <a:lnSpc>
                  <a:spcPts val="7680"/>
                </a:lnSpc>
              </a:pPr>
              <a:r>
                <a:rPr lang="ru-RU" sz="6400" dirty="0">
                  <a:solidFill>
                    <a:srgbClr val="31356E"/>
                  </a:solidFill>
                  <a:latin typeface="Evolventa"/>
                  <a:ea typeface="Evolventa"/>
                  <a:cs typeface="Evolventa"/>
                  <a:sym typeface="Evolventa"/>
                </a:rPr>
                <a:t>в </a:t>
              </a:r>
              <a:r>
                <a:rPr lang="en-US" sz="6400" dirty="0">
                  <a:solidFill>
                    <a:srgbClr val="31356E"/>
                  </a:solidFill>
                  <a:latin typeface="Evolventa"/>
                  <a:ea typeface="Evolventa"/>
                  <a:cs typeface="Evolventa"/>
                  <a:sym typeface="Evolventa"/>
                </a:rPr>
                <a:t>Python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635995"/>
              <a:ext cx="12478551" cy="4129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80"/>
                </a:lnSpc>
              </a:pPr>
              <a:r>
                <a:rPr lang="ru-RU" sz="29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Декоратор — это вызываемый объект, который принимает на вход вызываемый объект и возвращает другой вызываемый объект</a:t>
              </a:r>
              <a:r>
                <a:rPr lang="en-US" sz="29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. </a:t>
              </a:r>
              <a:r>
                <a:rPr lang="ru-RU" sz="29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Декораторы в </a:t>
              </a:r>
              <a:r>
                <a:rPr lang="ru-RU" sz="29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Python</a:t>
              </a:r>
              <a:r>
                <a:rPr lang="ru-RU" sz="29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позволяют расширять и изменять поведение вызываемых объектов (функций, методов и классов) без постоянного изменения самого вызываемого объекта.</a:t>
              </a:r>
              <a:endParaRPr lang="en-US" sz="29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CFB593-1CEF-4857-A0B4-4F552FB65FC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90599" y="3671071"/>
            <a:ext cx="8678055" cy="132002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07E493-4F60-4E6F-BED5-B56D178A173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794181" y="6009027"/>
            <a:ext cx="6274619" cy="3096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694" y="1839812"/>
            <a:ext cx="6276929" cy="7570888"/>
            <a:chOff x="0" y="-200025"/>
            <a:chExt cx="8369239" cy="10094514"/>
          </a:xfrm>
        </p:grpSpPr>
        <p:sp>
          <p:nvSpPr>
            <p:cNvPr id="3" name="TextBox 3"/>
            <p:cNvSpPr txBox="1"/>
            <p:nvPr/>
          </p:nvSpPr>
          <p:spPr>
            <a:xfrm>
              <a:off x="0" y="-200025"/>
              <a:ext cx="8369239" cy="1185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ru-RU" sz="6400" b="1" dirty="0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Инкапсуляция</a:t>
              </a:r>
              <a:endParaRPr lang="en-US" sz="6400" b="1" dirty="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523909"/>
              <a:ext cx="8369239" cy="8370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ru-RU" sz="21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Один из основополагающих принципов ООП</a:t>
              </a:r>
            </a:p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ru-RU" sz="21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Связь данных с методами которые этими данными управляют</a:t>
              </a:r>
            </a:p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ru-RU" sz="21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Набор инструментов для управления доступом к данным или методам которые управляют этими данными</a:t>
              </a:r>
            </a:p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ru-RU" sz="21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Ограничение доступа к составляющим объект компонентам (методам и переменным). Инкапсуляция делает некоторые из компонент доступными только внутри класса</a:t>
              </a:r>
            </a:p>
            <a:p>
              <a:pPr marL="453390" lvl="1" indent="-226695">
                <a:lnSpc>
                  <a:spcPts val="2940"/>
                </a:lnSpc>
                <a:buFont typeface="Arial"/>
                <a:buChar char="•"/>
              </a:pPr>
              <a:r>
                <a:rPr lang="ru-RU" sz="21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Инкапсуляция в </a:t>
              </a:r>
              <a:r>
                <a:rPr lang="ru-RU" sz="21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Python</a:t>
              </a:r>
              <a:r>
                <a:rPr lang="ru-RU" sz="21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работает лишь на уровне соглашения между программистами о том, какие атрибуты являются общедоступными, а какие — внутренними.</a:t>
              </a:r>
              <a:endParaRPr lang="en-US" sz="21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0" y="2539354"/>
            <a:ext cx="7316105" cy="5775770"/>
            <a:chOff x="0" y="-161925"/>
            <a:chExt cx="8031299" cy="770102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61925"/>
              <a:ext cx="8031299" cy="1949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00"/>
                </a:lnSpc>
              </a:pPr>
              <a:r>
                <a:rPr lang="ru-RU" sz="4750" b="1" dirty="0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Подчеркивания. Зачем?</a:t>
              </a:r>
              <a:endParaRPr lang="en-US" sz="4750" b="1" dirty="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15404"/>
              <a:ext cx="8031299" cy="6323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>
                <a:lnSpc>
                  <a:spcPts val="3359"/>
                </a:lnSpc>
                <a:buFont typeface="Arial"/>
                <a:buChar char="•"/>
              </a:pPr>
              <a:r>
                <a:rPr lang="ru-RU" sz="24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Одиночное подчеркивание в начале имени атрибута говорит о том, что переменная или метод не предназначен для использования вне методов класса, однако атрибут доступен по этому имени</a:t>
              </a:r>
            </a:p>
            <a:p>
              <a:pPr marL="518160" lvl="1" indent="-259080">
                <a:lnSpc>
                  <a:spcPts val="3359"/>
                </a:lnSpc>
                <a:buFont typeface="Arial"/>
                <a:buChar char="•"/>
              </a:pPr>
              <a:r>
                <a:rPr lang="ru-RU" sz="24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Двойное подчеркивание в начале имени атрибута даёт большую защиту: атрибут становится недоступным по этому имени. Однако полностью это не защищает, так как атрибут всё равно остаётся доступным под именем _</a:t>
              </a:r>
              <a:r>
                <a:rPr lang="ru-RU" sz="24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ИмяКласса</a:t>
              </a:r>
              <a:r>
                <a:rPr lang="ru-RU" sz="24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__</a:t>
              </a:r>
              <a:r>
                <a:rPr lang="ru-RU" sz="24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ИмяАтрибута</a:t>
              </a:r>
              <a:endParaRPr lang="en-US" sz="24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963412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8" y="0"/>
                </a:lnTo>
                <a:lnTo>
                  <a:pt x="4597438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0551837" y="390596"/>
            <a:ext cx="2076668" cy="1276207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8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8" y="1276208"/>
                </a:lnTo>
                <a:lnTo>
                  <a:pt x="20766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138681" y="-2447996"/>
            <a:ext cx="3837986" cy="41148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994246" y="-375920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2" y="0"/>
                </a:lnTo>
                <a:lnTo>
                  <a:pt x="5357752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2767" cy="10287000"/>
          </a:xfrm>
          <a:custGeom>
            <a:avLst/>
            <a:gdLst/>
            <a:ahLst/>
            <a:cxnLst/>
            <a:rect l="l" t="t" r="r" b="b"/>
            <a:pathLst>
              <a:path w="6912767" h="10287000">
                <a:moveTo>
                  <a:pt x="0" y="0"/>
                </a:moveTo>
                <a:lnTo>
                  <a:pt x="6912767" y="0"/>
                </a:lnTo>
                <a:lnTo>
                  <a:pt x="691276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24" r="-9699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97063" y="2236623"/>
            <a:ext cx="9162237" cy="7326477"/>
            <a:chOff x="0" y="-134620"/>
            <a:chExt cx="12216316" cy="9768635"/>
          </a:xfrm>
        </p:grpSpPr>
        <p:sp>
          <p:nvSpPr>
            <p:cNvPr id="4" name="TextBox 4"/>
            <p:cNvSpPr txBox="1"/>
            <p:nvPr/>
          </p:nvSpPr>
          <p:spPr>
            <a:xfrm>
              <a:off x="0" y="-134620"/>
              <a:ext cx="12216316" cy="2462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7230"/>
                </a:lnSpc>
                <a:defRPr/>
              </a:pPr>
              <a:r>
                <a:rPr lang="ru-RU" sz="6600" b="1" dirty="0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Поговорим о синтаксисе</a:t>
              </a:r>
              <a:endParaRPr lang="en-US" sz="6600" b="1" dirty="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047972"/>
              <a:ext cx="12216316" cy="2385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56"/>
                </a:lnSpc>
              </a:pPr>
              <a:r>
                <a:rPr lang="ru-RU" sz="2624" spc="414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КОГДА __ПРИВАТНЫЙ МЕТОД НЕ СОВСЕМ ПРИВАТНЫЙ, А _ПРИВАТНЫЙ СОВСЕМ НЕ ПРИВАТНЫЙ</a:t>
              </a:r>
              <a:endParaRPr lang="en-US" sz="2624" spc="414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078478"/>
              <a:ext cx="12216316" cy="5555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ru-RU" sz="2625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Сплошной </a:t>
              </a:r>
              <a:r>
                <a:rPr lang="ru-RU" sz="2625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договорнячок</a:t>
              </a:r>
              <a:r>
                <a:rPr lang="ru-RU" sz="2625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…</a:t>
              </a:r>
              <a:endParaRPr lang="en-US" sz="2625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110720-8AA9-4572-824A-02E27DC43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776773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6160" y="838877"/>
            <a:ext cx="9569415" cy="3168887"/>
            <a:chOff x="0" y="19049"/>
            <a:chExt cx="12759220" cy="4225182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49"/>
              <a:ext cx="12759220" cy="752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98"/>
                </a:lnSpc>
              </a:pPr>
              <a:r>
                <a:rPr lang="ru-RU" sz="5174" b="1" spc="-51" dirty="0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Геттеры и сеттеры</a:t>
              </a:r>
              <a:endParaRPr lang="en-US" sz="5174" b="1" spc="-51" dirty="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943276"/>
              <a:ext cx="12759220" cy="13009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55"/>
                </a:lnSpc>
              </a:pPr>
              <a:r>
                <a:rPr lang="ru-RU" sz="2399" b="1" u="sng" spc="479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Геттер</a:t>
              </a:r>
              <a:r>
                <a:rPr lang="ru-RU" sz="2399" spc="479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позволяет получить значение атрибута, а </a:t>
              </a:r>
              <a:r>
                <a:rPr lang="ru-RU" sz="2399" b="1" u="sng" spc="479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сеттер</a:t>
              </a:r>
              <a:r>
                <a:rPr lang="ru-RU" sz="2399" spc="479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установить его.</a:t>
              </a:r>
              <a:endParaRPr lang="en-US" sz="2399" spc="479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2443088" y="-1095217"/>
            <a:ext cx="6414740" cy="6631780"/>
          </a:xfrm>
          <a:custGeom>
            <a:avLst/>
            <a:gdLst/>
            <a:ahLst/>
            <a:cxnLst/>
            <a:rect l="l" t="t" r="r" b="b"/>
            <a:pathLst>
              <a:path w="6414740" h="663178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553200" y="6433177"/>
            <a:ext cx="4876800" cy="3434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Для создания свойства-геттера над свойством ставится аннотация </a:t>
            </a:r>
            <a:r>
              <a:rPr lang="ru-RU" sz="2400" b="1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@</a:t>
            </a:r>
            <a:r>
              <a:rPr lang="ru-RU" sz="2400" b="1" dirty="0" err="1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property</a:t>
            </a:r>
            <a:r>
              <a:rPr lang="en-US" sz="24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.</a:t>
            </a:r>
            <a:endParaRPr lang="ru-RU" sz="2400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Для создания свойства-сеттера над свойством устанавливается аннотация </a:t>
            </a:r>
            <a:r>
              <a:rPr lang="ru-RU" sz="2400" b="1" dirty="0" err="1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имя_свойства_геттера.setter</a:t>
            </a:r>
            <a:endParaRPr lang="en-US" sz="2400" b="1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948386" y="7048500"/>
            <a:ext cx="4310914" cy="212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ru-RU" sz="24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Ни геттеры, ни сеттеры, ни свойства совсем не обязательно использовать. Это всего лишь способы сделать код более изящным </a:t>
            </a:r>
            <a:endParaRPr lang="en-US" sz="2400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5219700"/>
            <a:ext cx="4310914" cy="43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ru-RU" sz="2800" b="1" dirty="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Большая приватность</a:t>
            </a:r>
            <a:endParaRPr lang="en-US" sz="2800" b="1" dirty="0">
              <a:solidFill>
                <a:srgbClr val="2B4B82"/>
              </a:solidFill>
              <a:latin typeface="Evolventa Bold"/>
              <a:ea typeface="Evolventa Bold"/>
              <a:cs typeface="Evolventa Bold"/>
              <a:sym typeface="Evolvent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6081717"/>
            <a:ext cx="4310914" cy="2565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79"/>
              </a:lnSpc>
            </a:pPr>
            <a:r>
              <a:rPr lang="ru-RU" sz="24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Используя __приватные атрибуты и сеттеры\геттеры при написании классов, мы как-то можем защитить атрибуты от прямого влияния из глобальной области</a:t>
            </a:r>
            <a:endParaRPr lang="en-US" sz="2400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988543" y="5676900"/>
            <a:ext cx="4310914" cy="42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ru-RU" sz="2742" b="1" dirty="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Аннотации свойств</a:t>
            </a:r>
            <a:endParaRPr lang="en-US" sz="2742" b="1" dirty="0">
              <a:solidFill>
                <a:srgbClr val="2B4B82"/>
              </a:solidFill>
              <a:latin typeface="Evolventa Bold"/>
              <a:ea typeface="Evolventa Bold"/>
              <a:cs typeface="Evolventa Bold"/>
              <a:sym typeface="Evolvent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48386" y="6134704"/>
            <a:ext cx="4310914" cy="43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ru-RU" sz="2800" b="1" dirty="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Обязательно?</a:t>
            </a:r>
            <a:endParaRPr lang="en-US" sz="2800" b="1" dirty="0">
              <a:solidFill>
                <a:srgbClr val="2B4B82"/>
              </a:solidFill>
              <a:latin typeface="Evolventa Bold"/>
              <a:ea typeface="Evolventa Bold"/>
              <a:cs typeface="Evolventa Bold"/>
              <a:sym typeface="Evolventa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762" y="1107504"/>
            <a:ext cx="3489749" cy="2861594"/>
          </a:xfrm>
          <a:custGeom>
            <a:avLst/>
            <a:gdLst/>
            <a:ahLst/>
            <a:cxnLst/>
            <a:rect l="l" t="t" r="r" b="b"/>
            <a:pathLst>
              <a:path w="3489749" h="2861594">
                <a:moveTo>
                  <a:pt x="0" y="0"/>
                </a:moveTo>
                <a:lnTo>
                  <a:pt x="3489749" y="0"/>
                </a:lnTo>
                <a:lnTo>
                  <a:pt x="3489749" y="2861593"/>
                </a:lnTo>
                <a:lnTo>
                  <a:pt x="0" y="286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0793" y="4342477"/>
            <a:ext cx="4618653" cy="41148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09232" y="1858271"/>
            <a:ext cx="928572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Следующие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шаги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нашего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обучения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 Bold"/>
              <a:ea typeface="Evolventa Bold"/>
              <a:cs typeface="Evolventa Bold"/>
              <a:sym typeface="Evolventa Bold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753BBBC9-600B-4293-BFA1-0F6AB454485A}"/>
              </a:ext>
            </a:extLst>
          </p:cNvPr>
          <p:cNvSpPr txBox="1"/>
          <p:nvPr/>
        </p:nvSpPr>
        <p:spPr>
          <a:xfrm>
            <a:off x="7973577" y="3743256"/>
            <a:ext cx="9285723" cy="2790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532" marR="0" lvl="1" indent="-288766" algn="l" defTabSz="914400" rtl="0" eaLnBrk="1" fontAlgn="auto" latinLnBrk="0" hangingPunct="1">
              <a:lnSpc>
                <a:spcPts val="37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2674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rPr>
              <a:t>Полиморфизм</a:t>
            </a:r>
          </a:p>
          <a:p>
            <a:pPr marL="577532" marR="0" lvl="1" indent="-288766" algn="l" defTabSz="914400" rtl="0" eaLnBrk="1" fontAlgn="auto" latinLnBrk="0" hangingPunct="1">
              <a:lnSpc>
                <a:spcPts val="37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ru-RU" sz="2674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  <a:p>
            <a:pPr marL="577532" marR="0" lvl="1" indent="-288766" algn="l" defTabSz="914400" rtl="0" eaLnBrk="1" fontAlgn="auto" latinLnBrk="0" hangingPunct="1">
              <a:lnSpc>
                <a:spcPts val="37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2674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rPr>
              <a:t>Исключения</a:t>
            </a:r>
          </a:p>
          <a:p>
            <a:pPr marL="577532" marR="0" lvl="1" indent="-288766" algn="l" defTabSz="914400" rtl="0" eaLnBrk="1" fontAlgn="auto" latinLnBrk="0" hangingPunct="1">
              <a:lnSpc>
                <a:spcPts val="37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ru-RU" sz="2674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  <a:p>
            <a:pPr marL="577532" marR="0" lvl="1" indent="-288766" algn="l" defTabSz="914400" rtl="0" eaLnBrk="1" fontAlgn="auto" latinLnBrk="0" hangingPunct="1">
              <a:lnSpc>
                <a:spcPts val="37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ru-RU" sz="2674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Параллельное программирования</a:t>
            </a:r>
            <a:endParaRPr kumimoji="0" lang="ru-RU" sz="2674" b="0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"/>
              <a:ea typeface="Evolventa"/>
              <a:cs typeface="Evolventa"/>
              <a:sym typeface="Evolventa"/>
            </a:endParaRPr>
          </a:p>
          <a:p>
            <a:pPr marL="577532" marR="0" lvl="1" indent="-288766" algn="l" defTabSz="914400" rtl="0" eaLnBrk="1" fontAlgn="auto" latinLnBrk="0" hangingPunct="1">
              <a:lnSpc>
                <a:spcPts val="37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674" b="0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"/>
              <a:ea typeface="Evolventa"/>
              <a:cs typeface="Evolventa"/>
              <a:sym typeface="Evolvent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476500"/>
            <a:ext cx="11539095" cy="3810000"/>
            <a:chOff x="-190924" y="1833498"/>
            <a:chExt cx="14455982" cy="5079999"/>
          </a:xfrm>
        </p:grpSpPr>
        <p:sp>
          <p:nvSpPr>
            <p:cNvPr id="3" name="TextBox 3"/>
            <p:cNvSpPr txBox="1"/>
            <p:nvPr/>
          </p:nvSpPr>
          <p:spPr>
            <a:xfrm>
              <a:off x="160651" y="1833498"/>
              <a:ext cx="14104407" cy="4334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64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«</a:t>
              </a:r>
              <a:r>
                <a:rPr kumimoji="0" lang="ru-RU" sz="5400" b="0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Определив точно значения слов, вы избавите человечество от половины заблуждений»</a:t>
              </a:r>
            </a:p>
            <a:p>
              <a:pPr marL="0" marR="0" lvl="0" indent="0" algn="l" defTabSz="914400" rtl="0" eaLnBrk="1" fontAlgn="auto" latinLnBrk="0" hangingPunct="1">
                <a:lnSpc>
                  <a:spcPts val="64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5400" b="0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90924" y="6326925"/>
              <a:ext cx="14104407" cy="5865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ts val="39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800" b="0" i="0" u="none" strike="noStrike" kern="1200" cap="none" spc="56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РЕНЕ ДЕКАРТ</a:t>
              </a:r>
              <a:endParaRPr kumimoji="0" lang="en-US" sz="2800" b="0" i="0" u="none" strike="noStrike" kern="1200" cap="none" spc="56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3001822" y="1710976"/>
            <a:ext cx="3662625" cy="5642699"/>
          </a:xfrm>
          <a:custGeom>
            <a:avLst/>
            <a:gdLst/>
            <a:ahLst/>
            <a:cxnLst/>
            <a:rect l="l" t="t" r="r" b="b"/>
            <a:pathLst>
              <a:path w="3662625" h="5642699">
                <a:moveTo>
                  <a:pt x="0" y="0"/>
                </a:moveTo>
                <a:lnTo>
                  <a:pt x="3662625" y="0"/>
                </a:lnTo>
                <a:lnTo>
                  <a:pt x="3662625" y="5642699"/>
                </a:lnTo>
                <a:lnTo>
                  <a:pt x="0" y="5642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5158" y="800100"/>
            <a:ext cx="7312717" cy="3614422"/>
            <a:chOff x="0" y="315934"/>
            <a:chExt cx="9750289" cy="4819230"/>
          </a:xfrm>
        </p:grpSpPr>
        <p:sp>
          <p:nvSpPr>
            <p:cNvPr id="3" name="TextBox 3"/>
            <p:cNvSpPr txBox="1"/>
            <p:nvPr/>
          </p:nvSpPr>
          <p:spPr>
            <a:xfrm>
              <a:off x="0" y="315934"/>
              <a:ext cx="9750289" cy="22127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561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975" b="0" i="0" u="none" strike="noStrike" kern="1200" cap="none" spc="-65" normalizeH="0" baseline="0" noProof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У вас есть какие-то</a:t>
              </a:r>
            </a:p>
            <a:p>
              <a:pPr marL="0" marR="0" lvl="0" indent="0" algn="l" defTabSz="914400" rtl="0" eaLnBrk="1" fontAlgn="auto" latinLnBrk="0" hangingPunct="1">
                <a:lnSpc>
                  <a:spcPts val="561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975" b="0" i="0" u="none" strike="noStrike" kern="1200" cap="none" spc="-65" normalizeH="0" baseline="0" noProof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вопросы?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785735"/>
              <a:ext cx="9750289" cy="13494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4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О</a:t>
              </a:r>
              <a:r>
                <a:rPr kumimoji="0" lang="ru-RU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с</a:t>
              </a:r>
              <a:r>
                <a:rPr kumimoji="0" lang="en-US" sz="3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тавьте</a:t>
              </a: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3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их</a:t>
              </a: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ru-RU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себе</a:t>
              </a: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! </a:t>
              </a:r>
              <a:r>
                <a:rPr kumimoji="0" lang="ru-RU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Н</a:t>
              </a:r>
              <a:r>
                <a:rPr kumimoji="0" lang="en-US" sz="3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аде</a:t>
              </a:r>
              <a:r>
                <a:rPr kumimoji="0" lang="ru-RU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ю</a:t>
              </a: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с</a:t>
              </a:r>
              <a:r>
                <a:rPr kumimoji="0" lang="ru-RU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ь</a:t>
              </a: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, </a:t>
              </a:r>
              <a:r>
                <a:rPr kumimoji="0" lang="en-US" sz="3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что</a:t>
              </a: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3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вы</a:t>
              </a: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3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узнали</a:t>
              </a: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3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что-то</a:t>
              </a: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3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новое</a:t>
              </a: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.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854137" y="3018272"/>
            <a:ext cx="7411325" cy="4635447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65100" y="8613636"/>
            <a:ext cx="4338720" cy="2713672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976014" y="7483497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320348" y="712171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5DFE013-0943-4CA6-95D9-E4A412288DDB}"/>
              </a:ext>
            </a:extLst>
          </p:cNvPr>
          <p:cNvGrpSpPr/>
          <p:nvPr/>
        </p:nvGrpSpPr>
        <p:grpSpPr>
          <a:xfrm>
            <a:off x="1525857" y="5143500"/>
            <a:ext cx="6475143" cy="4293855"/>
            <a:chOff x="0" y="-38100"/>
            <a:chExt cx="7316890" cy="6786239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3A5AB1E-9328-4EBF-B112-B1724A09370B}"/>
                </a:ext>
              </a:extLst>
            </p:cNvPr>
            <p:cNvSpPr txBox="1"/>
            <p:nvPr/>
          </p:nvSpPr>
          <p:spPr>
            <a:xfrm>
              <a:off x="0" y="800688"/>
              <a:ext cx="7316890" cy="503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+</a:t>
              </a:r>
              <a:r>
                <a:rPr kumimoji="0" lang="ru-RU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3</a:t>
              </a:r>
              <a:r>
                <a:rPr kumimoji="0" 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7</a:t>
              </a:r>
              <a:r>
                <a:rPr kumimoji="0" lang="ru-RU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5</a:t>
              </a:r>
              <a:r>
                <a:rPr kumimoji="0" 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 (33) </a:t>
              </a:r>
              <a:r>
                <a:rPr kumimoji="0" lang="ru-RU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398</a:t>
              </a:r>
              <a:r>
                <a:rPr kumimoji="0" 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-</a:t>
              </a:r>
              <a:r>
                <a:rPr kumimoji="0" lang="ru-RU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54</a:t>
              </a:r>
              <a:r>
                <a:rPr kumimoji="0" 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-</a:t>
              </a:r>
              <a:r>
                <a:rPr kumimoji="0" lang="ru-RU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37</a:t>
              </a:r>
              <a:endPara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 panose="020B060402020202020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55ADB6D-5E82-4DA1-8387-2F67405F421A}"/>
                </a:ext>
              </a:extLst>
            </p:cNvPr>
            <p:cNvSpPr txBox="1"/>
            <p:nvPr/>
          </p:nvSpPr>
          <p:spPr>
            <a:xfrm>
              <a:off x="0" y="-38100"/>
              <a:ext cx="7316890" cy="468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Позвоните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 м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не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 panose="020B0604020202020204" charset="0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1BBBF8A-4A1C-4CFC-8817-24EB5890AC64}"/>
                </a:ext>
              </a:extLst>
            </p:cNvPr>
            <p:cNvSpPr txBox="1"/>
            <p:nvPr/>
          </p:nvSpPr>
          <p:spPr>
            <a:xfrm>
              <a:off x="0" y="3522586"/>
              <a:ext cx="7316890" cy="503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kordebalet67@gmail.com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338A2F7-D523-491A-9FCB-0EC3658FAD89}"/>
                </a:ext>
              </a:extLst>
            </p:cNvPr>
            <p:cNvSpPr txBox="1"/>
            <p:nvPr/>
          </p:nvSpPr>
          <p:spPr>
            <a:xfrm>
              <a:off x="0" y="2683798"/>
              <a:ext cx="7316890" cy="468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Электронная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почта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 panose="020B0604020202020204" charset="0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E9E1C45-568E-49E8-A38E-CD76876F9901}"/>
                </a:ext>
              </a:extLst>
            </p:cNvPr>
            <p:cNvSpPr txBox="1"/>
            <p:nvPr/>
          </p:nvSpPr>
          <p:spPr>
            <a:xfrm>
              <a:off x="0" y="6244485"/>
              <a:ext cx="7316890" cy="503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@</a:t>
              </a:r>
              <a:r>
                <a:rPr kumimoji="0" lang="en-US" sz="213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Kordebalet</a:t>
              </a:r>
              <a:endPara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 panose="020B060402020202020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7B416D0-7768-4885-AA3D-D4886D3A6AC4}"/>
                </a:ext>
              </a:extLst>
            </p:cNvPr>
            <p:cNvSpPr txBox="1"/>
            <p:nvPr/>
          </p:nvSpPr>
          <p:spPr>
            <a:xfrm>
              <a:off x="0" y="5405695"/>
              <a:ext cx="7316890" cy="468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Telegram</a:t>
              </a:r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26B8CF01-C58E-4CAC-A5C4-766F526C1939}"/>
                </a:ext>
              </a:extLst>
            </p:cNvPr>
            <p:cNvSpPr/>
            <p:nvPr/>
          </p:nvSpPr>
          <p:spPr>
            <a:xfrm>
              <a:off x="0" y="2207170"/>
              <a:ext cx="7316890" cy="0"/>
            </a:xfrm>
            <a:prstGeom prst="line">
              <a:avLst/>
            </a:prstGeom>
            <a:ln w="38100" cap="rnd">
              <a:solidFill>
                <a:srgbClr val="173554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9EA8CE78-E7CE-426B-9351-EB6ECBE8D247}"/>
                </a:ext>
              </a:extLst>
            </p:cNvPr>
            <p:cNvSpPr/>
            <p:nvPr/>
          </p:nvSpPr>
          <p:spPr>
            <a:xfrm>
              <a:off x="0" y="4929067"/>
              <a:ext cx="7316890" cy="0"/>
            </a:xfrm>
            <a:prstGeom prst="line">
              <a:avLst/>
            </a:prstGeom>
            <a:ln w="38100" cap="rnd">
              <a:solidFill>
                <a:srgbClr val="173554"/>
              </a:solidFill>
              <a:prstDash val="sysDot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02445" y="1866911"/>
            <a:ext cx="8217084" cy="5729812"/>
            <a:chOff x="0" y="-104140"/>
            <a:chExt cx="10956112" cy="7639749"/>
          </a:xfrm>
        </p:grpSpPr>
        <p:sp>
          <p:nvSpPr>
            <p:cNvPr id="3" name="TextBox 3"/>
            <p:cNvSpPr txBox="1"/>
            <p:nvPr/>
          </p:nvSpPr>
          <p:spPr>
            <a:xfrm>
              <a:off x="0" y="911845"/>
              <a:ext cx="10956112" cy="56083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81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Понятие инкапсуляции. Виды атрибутов и методов</a:t>
              </a:r>
              <a:endPara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140"/>
              <a:ext cx="10956112" cy="467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14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250" b="0" i="0" u="none" strike="noStrike" kern="1200" cap="none" spc="418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КАФЕДРА №13</a:t>
              </a:r>
              <a:endParaRPr kumimoji="0" lang="en-US" sz="2250" b="0" i="0" u="none" strike="noStrike" kern="1200" cap="none" spc="418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663660"/>
              <a:ext cx="10956112" cy="871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581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150" b="0" i="0" u="none" strike="noStrike" kern="1200" cap="none" spc="0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ЛИТВИНОВ ВЛАДИСЛАВ</a:t>
              </a:r>
              <a:endParaRPr kumimoji="0" lang="en-US" sz="4150" b="0" i="0" u="none" strike="noStrike" kern="1200" cap="none" spc="0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182834" y="-1921745"/>
            <a:ext cx="6755642" cy="41148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03834" y="1790711"/>
            <a:ext cx="1194327" cy="2586142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2095190" y="202115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947148" y="1264426"/>
            <a:ext cx="3144039" cy="2440918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4872" y="5005800"/>
            <a:ext cx="1894295" cy="42525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11803" y="7612736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6747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39297</TotalTime>
  <Words>412</Words>
  <Application>Microsoft Office PowerPoint</Application>
  <PresentationFormat>Произвольный</PresentationFormat>
  <Paragraphs>54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Evolventa</vt:lpstr>
      <vt:lpstr>Evolventa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Синий Изометрические Элементы и Макеты Технологии в Образовании Технология Презентация</dc:title>
  <dc:creator>User</dc:creator>
  <cp:lastModifiedBy>User</cp:lastModifiedBy>
  <cp:revision>13</cp:revision>
  <dcterms:created xsi:type="dcterms:W3CDTF">2006-08-16T00:00:00Z</dcterms:created>
  <dcterms:modified xsi:type="dcterms:W3CDTF">2025-03-20T13:00:40Z</dcterms:modified>
  <dc:identifier>DAF10WwA6Dk</dc:identifier>
</cp:coreProperties>
</file>