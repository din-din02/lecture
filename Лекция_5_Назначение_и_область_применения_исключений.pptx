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79" r:id="rId5"/>
    <p:sldId id="260" r:id="rId6"/>
    <p:sldId id="280" r:id="rId7"/>
    <p:sldId id="281" r:id="rId8"/>
    <p:sldId id="282" r:id="rId9"/>
    <p:sldId id="283" r:id="rId10"/>
    <p:sldId id="262" r:id="rId11"/>
    <p:sldId id="264" r:id="rId12"/>
    <p:sldId id="272" r:id="rId13"/>
    <p:sldId id="276" r:id="rId14"/>
    <p:sldId id="273" r:id="rId15"/>
    <p:sldId id="284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DDDE"/>
    <a:srgbClr val="F0ABC1"/>
    <a:srgbClr val="F7B4A7"/>
    <a:srgbClr val="EFEFEF"/>
    <a:srgbClr val="2B4B82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398" y="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341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173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873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27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357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036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37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84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64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006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333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46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10" Type="http://schemas.openxmlformats.org/officeDocument/2006/relationships/image" Target="../media/image27.png"/><Relationship Id="rId4" Type="http://schemas.openxmlformats.org/officeDocument/2006/relationships/image" Target="../media/image23.png"/><Relationship Id="rId9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10" Type="http://schemas.openxmlformats.org/officeDocument/2006/relationships/image" Target="../media/image30.png"/><Relationship Id="rId4" Type="http://schemas.openxmlformats.org/officeDocument/2006/relationships/image" Target="../media/image23.png"/><Relationship Id="rId9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11" Type="http://schemas.openxmlformats.org/officeDocument/2006/relationships/image" Target="../media/image32.png"/><Relationship Id="rId5" Type="http://schemas.openxmlformats.org/officeDocument/2006/relationships/image" Target="../media/image23.png"/><Relationship Id="rId10" Type="http://schemas.openxmlformats.org/officeDocument/2006/relationships/image" Target="../media/image6.svg"/><Relationship Id="rId4" Type="http://schemas.openxmlformats.org/officeDocument/2006/relationships/image" Target="../media/image22.svg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34963" y="1244608"/>
            <a:ext cx="5478056" cy="4111337"/>
            <a:chOff x="0" y="-104140"/>
            <a:chExt cx="10956112" cy="6625539"/>
          </a:xfrm>
        </p:grpSpPr>
        <p:sp>
          <p:nvSpPr>
            <p:cNvPr id="3" name="TextBox 3"/>
            <p:cNvSpPr txBox="1"/>
            <p:nvPr/>
          </p:nvSpPr>
          <p:spPr>
            <a:xfrm>
              <a:off x="0" y="911844"/>
              <a:ext cx="10956112" cy="44759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54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5334" b="1" i="0" u="none" strike="noStrike" kern="1200" cap="none" spc="0" normalizeH="0" baseline="0" noProof="0" dirty="0">
                  <a:ln>
                    <a:noFill/>
                  </a:ln>
                  <a:solidFill>
                    <a:srgbClr val="F7B4A7"/>
                  </a:solidFill>
                  <a:effectLst/>
                  <a:uLnTx/>
                  <a:uFillTx/>
                  <a:latin typeface="Evolventa Bold"/>
                  <a:ea typeface="Evolventa Bold"/>
                  <a:cs typeface="Evolventa Bold"/>
                  <a:sym typeface="Evolventa Bold"/>
                </a:rPr>
                <a:t>Назначение и область применения исключений</a:t>
              </a:r>
              <a:endParaRPr kumimoji="0" lang="en-US" sz="5334" b="1" i="0" u="none" strike="noStrike" kern="1200" cap="none" spc="0" normalizeH="0" baseline="0" noProof="0" dirty="0">
                <a:ln>
                  <a:noFill/>
                </a:ln>
                <a:solidFill>
                  <a:srgbClr val="F7B4A7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140"/>
              <a:ext cx="10956112" cy="4915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20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500" b="0" i="0" u="none" strike="noStrike" kern="1200" cap="none" spc="279" normalizeH="0" baseline="0" noProof="0" dirty="0">
                  <a:ln>
                    <a:noFill/>
                  </a:ln>
                  <a:solidFill>
                    <a:srgbClr val="94DDDE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КАФЕДРА №13</a:t>
              </a:r>
              <a:endParaRPr kumimoji="0" lang="en-US" sz="1500" b="0" i="0" u="none" strike="noStrike" kern="1200" cap="none" spc="279" normalizeH="0" baseline="0" noProof="0" dirty="0">
                <a:ln>
                  <a:noFill/>
                </a:ln>
                <a:solidFill>
                  <a:srgbClr val="94DDDE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5804072"/>
              <a:ext cx="10956112" cy="7173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387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94DDDE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ЛИТВИНОВ ВЛАДИСЛАВ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4DDDE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788556" y="-1281163"/>
            <a:ext cx="4503761" cy="2743200"/>
          </a:xfrm>
          <a:custGeom>
            <a:avLst/>
            <a:gdLst/>
            <a:ahLst/>
            <a:cxnLst/>
            <a:rect l="l" t="t" r="r" b="b"/>
            <a:pathLst>
              <a:path w="6755642" h="4114800">
                <a:moveTo>
                  <a:pt x="0" y="0"/>
                </a:moveTo>
                <a:lnTo>
                  <a:pt x="6755642" y="0"/>
                </a:lnTo>
                <a:lnTo>
                  <a:pt x="67556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202556" y="1193807"/>
            <a:ext cx="796218" cy="1724095"/>
          </a:xfrm>
          <a:custGeom>
            <a:avLst/>
            <a:gdLst/>
            <a:ahLst/>
            <a:cxnLst/>
            <a:rect l="l" t="t" r="r" b="b"/>
            <a:pathLst>
              <a:path w="1194327" h="2586142">
                <a:moveTo>
                  <a:pt x="0" y="0"/>
                </a:moveTo>
                <a:lnTo>
                  <a:pt x="1194327" y="0"/>
                </a:lnTo>
                <a:lnTo>
                  <a:pt x="1194327" y="2586142"/>
                </a:lnTo>
                <a:lnTo>
                  <a:pt x="0" y="2586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396794" y="1347436"/>
            <a:ext cx="3571835" cy="3727722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5357753" y="0"/>
                </a:moveTo>
                <a:lnTo>
                  <a:pt x="0" y="0"/>
                </a:lnTo>
                <a:lnTo>
                  <a:pt x="0" y="5591582"/>
                </a:lnTo>
                <a:lnTo>
                  <a:pt x="5357753" y="5591582"/>
                </a:lnTo>
                <a:lnTo>
                  <a:pt x="5357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631432" y="842951"/>
            <a:ext cx="2096026" cy="1627279"/>
          </a:xfrm>
          <a:custGeom>
            <a:avLst/>
            <a:gdLst/>
            <a:ahLst/>
            <a:cxnLst/>
            <a:rect l="l" t="t" r="r" b="b"/>
            <a:pathLst>
              <a:path w="3144039" h="2440918">
                <a:moveTo>
                  <a:pt x="0" y="0"/>
                </a:moveTo>
                <a:lnTo>
                  <a:pt x="3144040" y="0"/>
                </a:lnTo>
                <a:lnTo>
                  <a:pt x="3144040" y="2440918"/>
                </a:lnTo>
                <a:lnTo>
                  <a:pt x="0" y="24409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16582" y="3337200"/>
            <a:ext cx="1262863" cy="2835000"/>
          </a:xfrm>
          <a:custGeom>
            <a:avLst/>
            <a:gdLst/>
            <a:ahLst/>
            <a:cxnLst/>
            <a:rect l="l" t="t" r="r" b="b"/>
            <a:pathLst>
              <a:path w="1894295" h="4252500">
                <a:moveTo>
                  <a:pt x="0" y="0"/>
                </a:moveTo>
                <a:lnTo>
                  <a:pt x="1894295" y="0"/>
                </a:lnTo>
                <a:lnTo>
                  <a:pt x="1894295" y="4252500"/>
                </a:lnTo>
                <a:lnTo>
                  <a:pt x="0" y="42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674535" y="5075157"/>
            <a:ext cx="2324239" cy="27432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8" y="0"/>
                </a:lnTo>
                <a:lnTo>
                  <a:pt x="34863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01510" y="1008611"/>
            <a:ext cx="5728315" cy="3892597"/>
            <a:chOff x="0" y="-228600"/>
            <a:chExt cx="11456630" cy="7785194"/>
          </a:xfrm>
        </p:grpSpPr>
        <p:sp>
          <p:nvSpPr>
            <p:cNvPr id="3" name="TextBox 3"/>
            <p:cNvSpPr txBox="1"/>
            <p:nvPr/>
          </p:nvSpPr>
          <p:spPr>
            <a:xfrm>
              <a:off x="481672" y="-228600"/>
              <a:ext cx="9060906" cy="14682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60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5050" b="1" i="0" u="none" strike="noStrike" kern="1200" cap="none" spc="0" normalizeH="0" baseline="0" noProof="0" dirty="0">
                  <a:ln>
                    <a:noFill/>
                  </a:ln>
                  <a:solidFill>
                    <a:srgbClr val="F7B4A7"/>
                  </a:solidFill>
                  <a:effectLst/>
                  <a:uLnTx/>
                  <a:uFillTx/>
                  <a:latin typeface="Evolventa Bold"/>
                  <a:ea typeface="Evolventa Bold"/>
                  <a:cs typeface="Evolventa Bold"/>
                  <a:sym typeface="Evolventa Bold"/>
                </a:rPr>
                <a:t>ВОПРОСЫ</a:t>
              </a:r>
              <a:endParaRPr kumimoji="0" lang="en-US" sz="5050" b="1" i="0" u="none" strike="noStrike" kern="1200" cap="none" spc="0" normalizeH="0" baseline="0" noProof="0" dirty="0">
                <a:ln>
                  <a:noFill/>
                </a:ln>
                <a:solidFill>
                  <a:srgbClr val="F7B4A7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81674" y="2213094"/>
              <a:ext cx="9060904" cy="7780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318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400" b="0" i="0" u="none" strike="noStrike" kern="1200" cap="none" spc="231" normalizeH="0" baseline="0" noProof="0" dirty="0">
                  <a:ln>
                    <a:noFill/>
                  </a:ln>
                  <a:solidFill>
                    <a:srgbClr val="94DDDE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КЛЮЧЕВЫЕ ЗНАНИЯ</a:t>
              </a:r>
              <a:endParaRPr kumimoji="0" lang="en-US" sz="2400" b="0" i="0" u="none" strike="noStrike" kern="1200" cap="none" spc="231" normalizeH="0" baseline="0" noProof="0" dirty="0">
                <a:ln>
                  <a:noFill/>
                </a:ln>
                <a:solidFill>
                  <a:srgbClr val="94DDDE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4478828"/>
              <a:ext cx="11456630" cy="30777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74245" lvl="1" indent="-187123" algn="just" defTabSz="609630">
                <a:lnSpc>
                  <a:spcPts val="2427"/>
                </a:lnSpc>
                <a:buFont typeface="Arial"/>
                <a:buChar char="•"/>
              </a:pPr>
              <a:r>
                <a:rPr lang="ru-RU" sz="2400" dirty="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Принципы работы исключений</a:t>
              </a:r>
            </a:p>
            <a:p>
              <a:pPr marL="374245" lvl="1" indent="-187123" algn="just" defTabSz="609630">
                <a:lnSpc>
                  <a:spcPts val="2427"/>
                </a:lnSpc>
                <a:buFont typeface="Arial"/>
                <a:buChar char="•"/>
              </a:pPr>
              <a:endParaRPr lang="ru-RU" sz="2400" dirty="0">
                <a:solidFill>
                  <a:srgbClr val="94DDDE"/>
                </a:solidFill>
                <a:latin typeface="Evolventa"/>
                <a:ea typeface="Evolventa"/>
                <a:cs typeface="Evolventa"/>
                <a:sym typeface="Evolventa"/>
              </a:endParaRPr>
            </a:p>
            <a:p>
              <a:pPr marL="374245" lvl="1" indent="-187123" algn="just" defTabSz="609630">
                <a:lnSpc>
                  <a:spcPts val="2427"/>
                </a:lnSpc>
                <a:buFont typeface="Arial"/>
                <a:buChar char="•"/>
              </a:pPr>
              <a:r>
                <a:rPr lang="ru-RU" sz="2400" dirty="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Обработка исключений.</a:t>
              </a:r>
            </a:p>
            <a:p>
              <a:pPr marL="374245" lvl="1" indent="-187123" algn="just" defTabSz="609630">
                <a:lnSpc>
                  <a:spcPts val="2427"/>
                </a:lnSpc>
                <a:buFont typeface="Arial"/>
                <a:buChar char="•"/>
              </a:pPr>
              <a:endParaRPr lang="ru-RU" sz="2400" dirty="0">
                <a:solidFill>
                  <a:srgbClr val="94DDDE"/>
                </a:solidFill>
                <a:latin typeface="Evolventa"/>
                <a:ea typeface="Evolventa"/>
                <a:cs typeface="Evolventa"/>
                <a:sym typeface="Evolventa"/>
              </a:endParaRPr>
            </a:p>
            <a:p>
              <a:pPr marL="374245" lvl="1" indent="-187123" algn="just" defTabSz="609630">
                <a:lnSpc>
                  <a:spcPts val="2427"/>
                </a:lnSpc>
                <a:buFont typeface="Arial"/>
                <a:buChar char="•"/>
              </a:pPr>
              <a:r>
                <a:rPr lang="ru-RU" sz="2400" dirty="0">
                  <a:solidFill>
                    <a:srgbClr val="94DDDE"/>
                  </a:solidFill>
                  <a:latin typeface="Evolventa"/>
                  <a:ea typeface="Evolventa"/>
                  <a:cs typeface="Evolventa"/>
                  <a:sym typeface="Evolventa"/>
                </a:rPr>
                <a:t>Пользовательские исключения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873172" y="1122911"/>
            <a:ext cx="2583030" cy="3415064"/>
          </a:xfrm>
          <a:custGeom>
            <a:avLst/>
            <a:gdLst/>
            <a:ahLst/>
            <a:cxnLst/>
            <a:rect l="l" t="t" r="r" b="b"/>
            <a:pathLst>
              <a:path w="3874545" h="5122596">
                <a:moveTo>
                  <a:pt x="0" y="0"/>
                </a:moveTo>
                <a:lnTo>
                  <a:pt x="3874546" y="0"/>
                </a:lnTo>
                <a:lnTo>
                  <a:pt x="3874546" y="5122596"/>
                </a:lnTo>
                <a:lnTo>
                  <a:pt x="0" y="5122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87318" y="1650063"/>
            <a:ext cx="2583030" cy="3415064"/>
          </a:xfrm>
          <a:custGeom>
            <a:avLst/>
            <a:gdLst/>
            <a:ahLst/>
            <a:cxnLst/>
            <a:rect l="l" t="t" r="r" b="b"/>
            <a:pathLst>
              <a:path w="3874545" h="5122596">
                <a:moveTo>
                  <a:pt x="0" y="0"/>
                </a:moveTo>
                <a:lnTo>
                  <a:pt x="3874545" y="0"/>
                </a:lnTo>
                <a:lnTo>
                  <a:pt x="3874545" y="5122595"/>
                </a:lnTo>
                <a:lnTo>
                  <a:pt x="0" y="51225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330488" y="2142879"/>
            <a:ext cx="2583030" cy="3415064"/>
          </a:xfrm>
          <a:custGeom>
            <a:avLst/>
            <a:gdLst/>
            <a:ahLst/>
            <a:cxnLst/>
            <a:rect l="l" t="t" r="r" b="b"/>
            <a:pathLst>
              <a:path w="3874545" h="5122596">
                <a:moveTo>
                  <a:pt x="0" y="0"/>
                </a:moveTo>
                <a:lnTo>
                  <a:pt x="3874545" y="0"/>
                </a:lnTo>
                <a:lnTo>
                  <a:pt x="3874545" y="5122596"/>
                </a:lnTo>
                <a:lnTo>
                  <a:pt x="0" y="51225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65876" y="175768"/>
            <a:ext cx="3421225" cy="2743200"/>
          </a:xfrm>
          <a:custGeom>
            <a:avLst/>
            <a:gdLst/>
            <a:ahLst/>
            <a:cxnLst/>
            <a:rect l="l" t="t" r="r" b="b"/>
            <a:pathLst>
              <a:path w="5131837" h="4114800">
                <a:moveTo>
                  <a:pt x="0" y="0"/>
                </a:moveTo>
                <a:lnTo>
                  <a:pt x="5131837" y="0"/>
                </a:lnTo>
                <a:lnTo>
                  <a:pt x="5131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60400" y="584200"/>
            <a:ext cx="11278636" cy="5554503"/>
            <a:chOff x="0" y="-207645"/>
            <a:chExt cx="22557272" cy="11109011"/>
          </a:xfrm>
        </p:grpSpPr>
        <p:sp>
          <p:nvSpPr>
            <p:cNvPr id="4" name="TextBox 4"/>
            <p:cNvSpPr txBox="1"/>
            <p:nvPr/>
          </p:nvSpPr>
          <p:spPr>
            <a:xfrm>
              <a:off x="0" y="-207645"/>
              <a:ext cx="13024306" cy="1308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51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4267" dirty="0">
                  <a:solidFill>
                    <a:srgbClr val="31356E"/>
                  </a:solidFill>
                  <a:latin typeface="Evolventa"/>
                  <a:ea typeface="Evolventa"/>
                  <a:cs typeface="Evolventa"/>
                  <a:sym typeface="Evolventa"/>
                </a:rPr>
                <a:t>Что такое исключения?</a:t>
              </a:r>
              <a:endParaRPr kumimoji="0" lang="en-US" sz="4267" b="0" i="0" u="none" strike="noStrike" kern="1200" cap="none" spc="0" normalizeH="0" baseline="0" noProof="0" dirty="0">
                <a:ln>
                  <a:noFill/>
                </a:ln>
                <a:solidFill>
                  <a:srgbClr val="31356E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103360" y="6167118"/>
              <a:ext cx="13453912" cy="47342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defTabSz="609630">
                <a:lnSpc>
                  <a:spcPts val="2320"/>
                </a:lnSpc>
              </a:pPr>
              <a:r>
                <a:rPr lang="ru-RU" sz="24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Исключения – это события, возникающие во время выполнения программы, которые могут привести к ошибкам или аномальному завершению программы. Они обычно возникают из-за некорректного кода или непредвиденных ситуаций, таких как деление на ноль, доступ к несуществующему файлу или использование неопределенной переменной.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ED31BCA3-3B49-45FA-BF34-FE7EC9E4C98A}"/>
              </a:ext>
            </a:extLst>
          </p:cNvPr>
          <p:cNvGrpSpPr/>
          <p:nvPr/>
        </p:nvGrpSpPr>
        <p:grpSpPr>
          <a:xfrm>
            <a:off x="5699760" y="1879600"/>
            <a:ext cx="1403350" cy="1403350"/>
            <a:chOff x="4114800" y="1879600"/>
            <a:chExt cx="1403350" cy="1403350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FAC917FB-1718-4926-A223-1D7F4A273D8C}"/>
                </a:ext>
              </a:extLst>
            </p:cNvPr>
            <p:cNvSpPr/>
            <p:nvPr/>
          </p:nvSpPr>
          <p:spPr>
            <a:xfrm>
              <a:off x="4114800" y="1879600"/>
              <a:ext cx="1403350" cy="1403350"/>
            </a:xfrm>
            <a:prstGeom prst="rect">
              <a:avLst/>
            </a:prstGeom>
            <a:solidFill>
              <a:srgbClr val="94DDDE"/>
            </a:solidFill>
            <a:ln>
              <a:solidFill>
                <a:srgbClr val="2B4B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E5E71A55-B685-44AB-B2D3-0CC58ED5AB56}"/>
                </a:ext>
              </a:extLst>
            </p:cNvPr>
            <p:cNvSpPr/>
            <p:nvPr/>
          </p:nvSpPr>
          <p:spPr>
            <a:xfrm>
              <a:off x="4311650" y="2447925"/>
              <a:ext cx="266700" cy="266700"/>
            </a:xfrm>
            <a:prstGeom prst="ellipse">
              <a:avLst/>
            </a:prstGeom>
            <a:solidFill>
              <a:srgbClr val="2B4B82"/>
            </a:solidFill>
            <a:ln>
              <a:solidFill>
                <a:srgbClr val="2B4B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EBF261A1-D1B8-4226-863C-1BDEBCB69C9B}"/>
                </a:ext>
              </a:extLst>
            </p:cNvPr>
            <p:cNvSpPr/>
            <p:nvPr/>
          </p:nvSpPr>
          <p:spPr>
            <a:xfrm>
              <a:off x="5054600" y="2447925"/>
              <a:ext cx="266700" cy="266700"/>
            </a:xfrm>
            <a:prstGeom prst="ellipse">
              <a:avLst/>
            </a:prstGeom>
            <a:solidFill>
              <a:srgbClr val="2B4B82"/>
            </a:solidFill>
            <a:ln>
              <a:solidFill>
                <a:srgbClr val="2B4B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7CD2DFA0-C8DF-40D4-9224-E38C503212D6}"/>
                </a:ext>
              </a:extLst>
            </p:cNvPr>
            <p:cNvSpPr/>
            <p:nvPr/>
          </p:nvSpPr>
          <p:spPr>
            <a:xfrm>
              <a:off x="4725987" y="2490787"/>
              <a:ext cx="180975" cy="180975"/>
            </a:xfrm>
            <a:prstGeom prst="ellipse">
              <a:avLst/>
            </a:prstGeom>
            <a:solidFill>
              <a:srgbClr val="FEFEFE"/>
            </a:solidFill>
            <a:ln>
              <a:solidFill>
                <a:srgbClr val="2B4B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Знак ''плюс'' 11">
              <a:extLst>
                <a:ext uri="{FF2B5EF4-FFF2-40B4-BE49-F238E27FC236}">
                  <a16:creationId xmlns:a16="http://schemas.microsoft.com/office/drawing/2014/main" id="{E762007C-771A-423D-945A-9FD6E159FF9C}"/>
                </a:ext>
              </a:extLst>
            </p:cNvPr>
            <p:cNvSpPr/>
            <p:nvPr/>
          </p:nvSpPr>
          <p:spPr>
            <a:xfrm>
              <a:off x="4752657" y="2517456"/>
              <a:ext cx="127635" cy="127635"/>
            </a:xfrm>
            <a:prstGeom prst="mathPlus">
              <a:avLst/>
            </a:prstGeom>
            <a:solidFill>
              <a:srgbClr val="2B4B82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8" name="Взрыв: 8 точек 17">
            <a:extLst>
              <a:ext uri="{FF2B5EF4-FFF2-40B4-BE49-F238E27FC236}">
                <a16:creationId xmlns:a16="http://schemas.microsoft.com/office/drawing/2014/main" id="{7E972BD1-BDF6-43BA-B9EA-19C962B91F58}"/>
              </a:ext>
            </a:extLst>
          </p:cNvPr>
          <p:cNvSpPr/>
          <p:nvPr/>
        </p:nvSpPr>
        <p:spPr>
          <a:xfrm>
            <a:off x="7299960" y="2002153"/>
            <a:ext cx="1158240" cy="1158240"/>
          </a:xfrm>
          <a:prstGeom prst="irregularSeal1">
            <a:avLst/>
          </a:prstGeom>
          <a:solidFill>
            <a:srgbClr val="F0ABC1"/>
          </a:solidFill>
          <a:ln>
            <a:solidFill>
              <a:srgbClr val="F7B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FC7AB912-511F-4AFE-BA3C-8B5B834D3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7F653B65-1796-48AA-AE41-4D5909EA9F46}"/>
              </a:ext>
            </a:extLst>
          </p:cNvPr>
          <p:cNvSpPr/>
          <p:nvPr/>
        </p:nvSpPr>
        <p:spPr>
          <a:xfrm>
            <a:off x="1383792" y="2141728"/>
            <a:ext cx="2389632" cy="654025"/>
          </a:xfrm>
          <a:prstGeom prst="roundRect">
            <a:avLst/>
          </a:prstGeom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C5586C51-1168-4955-B85B-E3933EF07121}"/>
              </a:ext>
            </a:extLst>
          </p:cNvPr>
          <p:cNvSpPr/>
          <p:nvPr/>
        </p:nvSpPr>
        <p:spPr>
          <a:xfrm>
            <a:off x="1383792" y="3037103"/>
            <a:ext cx="2389632" cy="654025"/>
          </a:xfrm>
          <a:prstGeom prst="roundRect">
            <a:avLst/>
          </a:prstGeom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5FD45F9-72A7-4CC3-8498-367616EED37B}"/>
              </a:ext>
            </a:extLst>
          </p:cNvPr>
          <p:cNvSpPr/>
          <p:nvPr/>
        </p:nvSpPr>
        <p:spPr>
          <a:xfrm>
            <a:off x="1383792" y="3937558"/>
            <a:ext cx="2389632" cy="654025"/>
          </a:xfrm>
          <a:prstGeom prst="roundRect">
            <a:avLst/>
          </a:prstGeom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07E91E56-9835-4D9F-A7C2-6F23593BA892}"/>
              </a:ext>
            </a:extLst>
          </p:cNvPr>
          <p:cNvSpPr/>
          <p:nvPr/>
        </p:nvSpPr>
        <p:spPr>
          <a:xfrm>
            <a:off x="1383792" y="4838013"/>
            <a:ext cx="2389632" cy="654025"/>
          </a:xfrm>
          <a:prstGeom prst="roundRect">
            <a:avLst/>
          </a:prstGeom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Дуга 28">
            <a:extLst>
              <a:ext uri="{FF2B5EF4-FFF2-40B4-BE49-F238E27FC236}">
                <a16:creationId xmlns:a16="http://schemas.microsoft.com/office/drawing/2014/main" id="{74F9F4FC-5289-410E-94E9-1281C1B02AAB}"/>
              </a:ext>
            </a:extLst>
          </p:cNvPr>
          <p:cNvSpPr/>
          <p:nvPr/>
        </p:nvSpPr>
        <p:spPr>
          <a:xfrm rot="13450780">
            <a:off x="519183" y="2591116"/>
            <a:ext cx="1666622" cy="1701759"/>
          </a:xfrm>
          <a:prstGeom prst="arc">
            <a:avLst>
              <a:gd name="adj1" fmla="val 13412476"/>
              <a:gd name="adj2" fmla="val 2875824"/>
            </a:avLst>
          </a:prstGeom>
          <a:ln w="38100">
            <a:solidFill>
              <a:srgbClr val="2B4B8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Дуга 29">
            <a:extLst>
              <a:ext uri="{FF2B5EF4-FFF2-40B4-BE49-F238E27FC236}">
                <a16:creationId xmlns:a16="http://schemas.microsoft.com/office/drawing/2014/main" id="{DD05D5AA-F654-4C28-9F06-F13474D1FBD3}"/>
              </a:ext>
            </a:extLst>
          </p:cNvPr>
          <p:cNvSpPr/>
          <p:nvPr/>
        </p:nvSpPr>
        <p:spPr>
          <a:xfrm rot="2426400">
            <a:off x="3392176" y="2471418"/>
            <a:ext cx="852666" cy="870643"/>
          </a:xfrm>
          <a:prstGeom prst="arc">
            <a:avLst>
              <a:gd name="adj1" fmla="val 13412476"/>
              <a:gd name="adj2" fmla="val 3331090"/>
            </a:avLst>
          </a:prstGeom>
          <a:ln w="38100">
            <a:solidFill>
              <a:srgbClr val="2B4B8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4C17C00-3BFB-4A20-B4C4-CCA234B5794D}"/>
              </a:ext>
            </a:extLst>
          </p:cNvPr>
          <p:cNvSpPr/>
          <p:nvPr/>
        </p:nvSpPr>
        <p:spPr>
          <a:xfrm>
            <a:off x="387608" y="3203746"/>
            <a:ext cx="437549" cy="437549"/>
          </a:xfrm>
          <a:prstGeom prst="rect">
            <a:avLst/>
          </a:prstGeom>
          <a:solidFill>
            <a:srgbClr val="EFEFEF"/>
          </a:solidFill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BD0975A3-37D6-40E3-931B-8ADDC36E088D}"/>
              </a:ext>
            </a:extLst>
          </p:cNvPr>
          <p:cNvSpPr/>
          <p:nvPr/>
        </p:nvSpPr>
        <p:spPr>
          <a:xfrm>
            <a:off x="3977804" y="2710053"/>
            <a:ext cx="438175" cy="438175"/>
          </a:xfrm>
          <a:prstGeom prst="ellipse">
            <a:avLst/>
          </a:prstGeom>
          <a:solidFill>
            <a:srgbClr val="EFEFEF"/>
          </a:solidFill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CE3857A4-A470-4D14-BC5D-ABA2980238DD}"/>
              </a:ext>
            </a:extLst>
          </p:cNvPr>
          <p:cNvSpPr/>
          <p:nvPr/>
        </p:nvSpPr>
        <p:spPr>
          <a:xfrm>
            <a:off x="3979074" y="4945937"/>
            <a:ext cx="438175" cy="438175"/>
          </a:xfrm>
          <a:prstGeom prst="ellipse">
            <a:avLst/>
          </a:prstGeom>
          <a:solidFill>
            <a:srgbClr val="EFEFEF"/>
          </a:solidFill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Знак умножения 34">
            <a:extLst>
              <a:ext uri="{FF2B5EF4-FFF2-40B4-BE49-F238E27FC236}">
                <a16:creationId xmlns:a16="http://schemas.microsoft.com/office/drawing/2014/main" id="{29E3A964-D57B-4650-914A-EBD954728802}"/>
              </a:ext>
            </a:extLst>
          </p:cNvPr>
          <p:cNvSpPr/>
          <p:nvPr/>
        </p:nvSpPr>
        <p:spPr>
          <a:xfrm>
            <a:off x="3991833" y="2724082"/>
            <a:ext cx="410116" cy="410116"/>
          </a:xfrm>
          <a:prstGeom prst="mathMultiply">
            <a:avLst>
              <a:gd name="adj1" fmla="val 11453"/>
            </a:avLst>
          </a:prstGeom>
          <a:solidFill>
            <a:srgbClr val="F0ABC1"/>
          </a:solidFill>
          <a:ln w="12700"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оловина рамки 35">
            <a:extLst>
              <a:ext uri="{FF2B5EF4-FFF2-40B4-BE49-F238E27FC236}">
                <a16:creationId xmlns:a16="http://schemas.microsoft.com/office/drawing/2014/main" id="{02C3CB82-9CC9-4B29-8627-24D994269551}"/>
              </a:ext>
            </a:extLst>
          </p:cNvPr>
          <p:cNvSpPr/>
          <p:nvPr/>
        </p:nvSpPr>
        <p:spPr>
          <a:xfrm rot="7933517" flipH="1">
            <a:off x="443362" y="3270997"/>
            <a:ext cx="318456" cy="170808"/>
          </a:xfrm>
          <a:prstGeom prst="halfFrame">
            <a:avLst/>
          </a:prstGeom>
          <a:solidFill>
            <a:srgbClr val="94DDDE"/>
          </a:solidFill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CE66F5A5-45FE-4A39-BD5B-D35C5A1E655D}"/>
              </a:ext>
            </a:extLst>
          </p:cNvPr>
          <p:cNvSpPr/>
          <p:nvPr/>
        </p:nvSpPr>
        <p:spPr>
          <a:xfrm>
            <a:off x="4169780" y="5098288"/>
            <a:ext cx="57796" cy="228600"/>
          </a:xfrm>
          <a:prstGeom prst="rect">
            <a:avLst/>
          </a:prstGeom>
          <a:solidFill>
            <a:srgbClr val="FEFEFE"/>
          </a:solidFill>
          <a:ln w="12700"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6BBEB5E7-BE24-435A-8295-BF2EF96D2DBD}"/>
              </a:ext>
            </a:extLst>
          </p:cNvPr>
          <p:cNvSpPr/>
          <p:nvPr/>
        </p:nvSpPr>
        <p:spPr>
          <a:xfrm>
            <a:off x="4161331" y="4994922"/>
            <a:ext cx="71120" cy="71120"/>
          </a:xfrm>
          <a:prstGeom prst="ellipse">
            <a:avLst/>
          </a:prstGeom>
          <a:solidFill>
            <a:srgbClr val="FEFEFE"/>
          </a:solidFill>
          <a:ln w="12700"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8B72DF-91BA-4B92-93DC-BA80DABF5582}"/>
              </a:ext>
            </a:extLst>
          </p:cNvPr>
          <p:cNvSpPr txBox="1"/>
          <p:nvPr/>
        </p:nvSpPr>
        <p:spPr>
          <a:xfrm>
            <a:off x="1383792" y="2176352"/>
            <a:ext cx="2394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94DDDE"/>
                </a:solidFill>
                <a:latin typeface="Evolventa Bold"/>
              </a:rPr>
              <a:t>TRY</a:t>
            </a:r>
            <a:endParaRPr lang="ru-RU" sz="3200" dirty="0">
              <a:solidFill>
                <a:srgbClr val="94DDDE"/>
              </a:solidFill>
              <a:latin typeface="Evolventa Bold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AEED46-036D-45EE-8C59-FF1A6836EBEF}"/>
              </a:ext>
            </a:extLst>
          </p:cNvPr>
          <p:cNvSpPr txBox="1"/>
          <p:nvPr/>
        </p:nvSpPr>
        <p:spPr>
          <a:xfrm>
            <a:off x="1370677" y="3084001"/>
            <a:ext cx="2394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7B4A7"/>
                </a:solidFill>
                <a:latin typeface="Evolventa Bold"/>
              </a:rPr>
              <a:t>EXCEPT</a:t>
            </a:r>
            <a:endParaRPr lang="ru-RU" sz="3200" dirty="0">
              <a:solidFill>
                <a:srgbClr val="F7B4A7"/>
              </a:solidFill>
              <a:latin typeface="Evolventa Bold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C2706E-1BF8-47E2-A643-BFA837EFCDE1}"/>
              </a:ext>
            </a:extLst>
          </p:cNvPr>
          <p:cNvSpPr txBox="1"/>
          <p:nvPr/>
        </p:nvSpPr>
        <p:spPr>
          <a:xfrm>
            <a:off x="1383792" y="3979744"/>
            <a:ext cx="2394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FEFEF"/>
                </a:solidFill>
                <a:latin typeface="Evolventa Bold"/>
              </a:rPr>
              <a:t>ELSE</a:t>
            </a:r>
            <a:endParaRPr lang="ru-RU" sz="3200" dirty="0">
              <a:solidFill>
                <a:srgbClr val="EFEFEF"/>
              </a:solidFill>
              <a:latin typeface="Evolventa Bold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A773B5-C2A3-4870-97AE-6EAB5C692C2A}"/>
              </a:ext>
            </a:extLst>
          </p:cNvPr>
          <p:cNvSpPr txBox="1"/>
          <p:nvPr/>
        </p:nvSpPr>
        <p:spPr>
          <a:xfrm>
            <a:off x="1345936" y="4872636"/>
            <a:ext cx="2394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0ABC1"/>
                </a:solidFill>
                <a:latin typeface="Evolventa Bold"/>
              </a:rPr>
              <a:t>FINALLY</a:t>
            </a:r>
            <a:endParaRPr lang="ru-RU" sz="3200" dirty="0">
              <a:solidFill>
                <a:srgbClr val="F0ABC1"/>
              </a:solidFill>
              <a:latin typeface="Evolventa Bold"/>
            </a:endParaRP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148C7015-9D17-4FA5-BC2D-64D9A97711CD}"/>
              </a:ext>
            </a:extLst>
          </p:cNvPr>
          <p:cNvSpPr/>
          <p:nvPr/>
        </p:nvSpPr>
        <p:spPr>
          <a:xfrm>
            <a:off x="1408533" y="5693610"/>
            <a:ext cx="2389632" cy="654025"/>
          </a:xfrm>
          <a:prstGeom prst="roundRect">
            <a:avLst/>
          </a:prstGeom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744240-4B15-455F-92F2-ED9D9124CA00}"/>
              </a:ext>
            </a:extLst>
          </p:cNvPr>
          <p:cNvSpPr txBox="1"/>
          <p:nvPr/>
        </p:nvSpPr>
        <p:spPr>
          <a:xfrm>
            <a:off x="1370677" y="5728233"/>
            <a:ext cx="2394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Evolventa Bold"/>
              </a:rPr>
              <a:t>RAISE</a:t>
            </a:r>
            <a:endParaRPr lang="ru-RU" sz="3200" dirty="0">
              <a:solidFill>
                <a:schemeClr val="accent2">
                  <a:lumMod val="75000"/>
                </a:schemeClr>
              </a:solidFill>
              <a:latin typeface="Evolventa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5089" y="1165305"/>
            <a:ext cx="9153731" cy="4282243"/>
            <a:chOff x="291909" y="1167924"/>
            <a:chExt cx="17201458" cy="8564486"/>
          </a:xfrm>
        </p:grpSpPr>
        <p:sp>
          <p:nvSpPr>
            <p:cNvPr id="3" name="TextBox 3"/>
            <p:cNvSpPr txBox="1"/>
            <p:nvPr/>
          </p:nvSpPr>
          <p:spPr>
            <a:xfrm>
              <a:off x="3388960" y="1167924"/>
              <a:ext cx="14104407" cy="11028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43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3600" dirty="0">
                  <a:solidFill>
                    <a:srgbClr val="F7B4A7"/>
                  </a:solidFill>
                  <a:latin typeface="Evolventa"/>
                  <a:ea typeface="Evolventa"/>
                  <a:cs typeface="Evolventa"/>
                  <a:sym typeface="Evolventa"/>
                </a:rPr>
                <a:t>Зачем исключения </a:t>
              </a: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7B4A7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в </a:t>
              </a: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7B4A7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Python</a:t>
              </a:r>
              <a:r>
                <a:rPr kumimoji="0" lang="ru-RU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7B4A7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?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1909" y="2437336"/>
              <a:ext cx="14749406" cy="72950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algn="just" defTabSz="609630">
                <a:lnSpc>
                  <a:spcPts val="2613"/>
                </a:lnSpc>
                <a:defRPr/>
              </a:pPr>
              <a:r>
                <a:rPr lang="ru-RU" sz="1867" b="1" dirty="0">
                  <a:solidFill>
                    <a:srgbClr val="F7B4A7"/>
                  </a:solidFill>
                  <a:latin typeface="Evolventa"/>
                  <a:ea typeface="Evolventa"/>
                  <a:cs typeface="Evolventa"/>
                  <a:sym typeface="Evolventa"/>
                </a:rPr>
                <a:t>Представьте, что ваша программа пытается открыть файл, которого не существует, или делит число на ноль. В подобных ситуациях возникает ошибка, которая может привести к аварийному завершению программы. Однако, с помощью исключений, мы можем предвидеть такие ошибки и корректно их обрабатывать, обеспечивая стабильную работу программы.</a:t>
              </a:r>
            </a:p>
            <a:p>
              <a:pPr lvl="0" algn="just" defTabSz="609630">
                <a:lnSpc>
                  <a:spcPts val="2613"/>
                </a:lnSpc>
                <a:defRPr/>
              </a:pPr>
              <a:endParaRPr lang="ru-RU" sz="1867" b="1" dirty="0">
                <a:solidFill>
                  <a:srgbClr val="F7B4A7"/>
                </a:solidFill>
                <a:latin typeface="Evolventa"/>
                <a:ea typeface="Evolventa"/>
                <a:cs typeface="Evolventa"/>
                <a:sym typeface="Evolventa"/>
              </a:endParaRPr>
            </a:p>
            <a:p>
              <a:pPr lvl="0" algn="just" defTabSz="609630">
                <a:lnSpc>
                  <a:spcPts val="2613"/>
                </a:lnSpc>
                <a:defRPr/>
              </a:pPr>
              <a:r>
                <a:rPr lang="ru-RU" sz="1867" b="1" dirty="0">
                  <a:solidFill>
                    <a:srgbClr val="F7B4A7"/>
                  </a:solidFill>
                  <a:latin typeface="Evolventa"/>
                  <a:ea typeface="Evolventa"/>
                  <a:cs typeface="Evolventa"/>
                  <a:sym typeface="Evolventa"/>
                </a:rPr>
                <a:t>Основные цели использования исключений включают:</a:t>
              </a:r>
            </a:p>
            <a:p>
              <a:pPr lvl="0" algn="just" defTabSz="609630">
                <a:lnSpc>
                  <a:spcPts val="2613"/>
                </a:lnSpc>
                <a:defRPr/>
              </a:pPr>
              <a:r>
                <a:rPr lang="ru-RU" sz="1867" b="1" dirty="0">
                  <a:solidFill>
                    <a:srgbClr val="F7B4A7"/>
                  </a:solidFill>
                  <a:latin typeface="Evolventa"/>
                  <a:ea typeface="Evolventa"/>
                  <a:cs typeface="Evolventa"/>
                  <a:sym typeface="Evolventa"/>
                </a:rPr>
                <a:t>•	Повышение надежности программы за счет обработки ошибок.</a:t>
              </a:r>
            </a:p>
            <a:p>
              <a:pPr lvl="0" algn="just" defTabSz="609630">
                <a:lnSpc>
                  <a:spcPts val="2613"/>
                </a:lnSpc>
                <a:defRPr/>
              </a:pPr>
              <a:r>
                <a:rPr lang="ru-RU" sz="1867" b="1" dirty="0">
                  <a:solidFill>
                    <a:srgbClr val="F7B4A7"/>
                  </a:solidFill>
                  <a:latin typeface="Evolventa"/>
                  <a:ea typeface="Evolventa"/>
                  <a:cs typeface="Evolventa"/>
                  <a:sym typeface="Evolventa"/>
                </a:rPr>
                <a:t>•	Упрощение отладки и поиска проблем.</a:t>
              </a:r>
            </a:p>
            <a:p>
              <a:pPr lvl="0" algn="just" defTabSz="609630">
                <a:lnSpc>
                  <a:spcPts val="2613"/>
                </a:lnSpc>
                <a:defRPr/>
              </a:pPr>
              <a:r>
                <a:rPr lang="ru-RU" sz="1867" b="1" dirty="0">
                  <a:solidFill>
                    <a:srgbClr val="F7B4A7"/>
                  </a:solidFill>
                  <a:latin typeface="Evolventa"/>
                  <a:ea typeface="Evolventa"/>
                  <a:cs typeface="Evolventa"/>
                  <a:sym typeface="Evolventa"/>
                </a:rPr>
                <a:t>•	Сокращение количества ошибок, возникающих в уже работающей программе.</a:t>
              </a:r>
              <a:endParaRPr kumimoji="0" lang="en-US" sz="1867" b="0" i="0" u="none" strike="noStrike" kern="1200" cap="none" normalizeH="0" baseline="0" noProof="0" dirty="0">
                <a:ln>
                  <a:noFill/>
                </a:ln>
                <a:solidFill>
                  <a:srgbClr val="F7B4A7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</p:grpSp>
      <p:sp>
        <p:nvSpPr>
          <p:cNvPr id="6" name="Freeform 7">
            <a:extLst>
              <a:ext uri="{FF2B5EF4-FFF2-40B4-BE49-F238E27FC236}">
                <a16:creationId xmlns:a16="http://schemas.microsoft.com/office/drawing/2014/main" id="{448435BB-96A5-4204-A2CD-FBEC18F7F12C}"/>
              </a:ext>
            </a:extLst>
          </p:cNvPr>
          <p:cNvSpPr/>
          <p:nvPr/>
        </p:nvSpPr>
        <p:spPr>
          <a:xfrm>
            <a:off x="8731055" y="2994684"/>
            <a:ext cx="796218" cy="1724095"/>
          </a:xfrm>
          <a:custGeom>
            <a:avLst/>
            <a:gdLst/>
            <a:ahLst/>
            <a:cxnLst/>
            <a:rect l="l" t="t" r="r" b="b"/>
            <a:pathLst>
              <a:path w="1194327" h="2586142">
                <a:moveTo>
                  <a:pt x="0" y="0"/>
                </a:moveTo>
                <a:lnTo>
                  <a:pt x="1194327" y="0"/>
                </a:lnTo>
                <a:lnTo>
                  <a:pt x="1194327" y="2586142"/>
                </a:lnTo>
                <a:lnTo>
                  <a:pt x="0" y="25861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AA53C1D8-B65C-4F0C-A76A-3F1B82F34167}"/>
              </a:ext>
            </a:extLst>
          </p:cNvPr>
          <p:cNvSpPr/>
          <p:nvPr/>
        </p:nvSpPr>
        <p:spPr>
          <a:xfrm>
            <a:off x="8543965" y="3036536"/>
            <a:ext cx="3571835" cy="3727722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5357753" y="0"/>
                </a:moveTo>
                <a:lnTo>
                  <a:pt x="0" y="0"/>
                </a:lnTo>
                <a:lnTo>
                  <a:pt x="0" y="5591582"/>
                </a:lnTo>
                <a:lnTo>
                  <a:pt x="5357753" y="5591582"/>
                </a:lnTo>
                <a:lnTo>
                  <a:pt x="53577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67E592B9-2805-499B-B5C4-D89D7733047B}"/>
              </a:ext>
            </a:extLst>
          </p:cNvPr>
          <p:cNvSpPr/>
          <p:nvPr/>
        </p:nvSpPr>
        <p:spPr>
          <a:xfrm>
            <a:off x="-294882" y="-350849"/>
            <a:ext cx="2096026" cy="1627279"/>
          </a:xfrm>
          <a:custGeom>
            <a:avLst/>
            <a:gdLst/>
            <a:ahLst/>
            <a:cxnLst/>
            <a:rect l="l" t="t" r="r" b="b"/>
            <a:pathLst>
              <a:path w="3144039" h="2440918">
                <a:moveTo>
                  <a:pt x="0" y="0"/>
                </a:moveTo>
                <a:lnTo>
                  <a:pt x="3144040" y="0"/>
                </a:lnTo>
                <a:lnTo>
                  <a:pt x="3144040" y="2440918"/>
                </a:lnTo>
                <a:lnTo>
                  <a:pt x="0" y="24409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1">
            <a:extLst>
              <a:ext uri="{FF2B5EF4-FFF2-40B4-BE49-F238E27FC236}">
                <a16:creationId xmlns:a16="http://schemas.microsoft.com/office/drawing/2014/main" id="{9FC87B01-F094-4824-9E6F-911E8FED27BD}"/>
              </a:ext>
            </a:extLst>
          </p:cNvPr>
          <p:cNvSpPr/>
          <p:nvPr/>
        </p:nvSpPr>
        <p:spPr>
          <a:xfrm flipH="1">
            <a:off x="10065935" y="-544593"/>
            <a:ext cx="2324239" cy="27432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8" y="0"/>
                </a:lnTo>
                <a:lnTo>
                  <a:pt x="34863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249130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8724" y="1408299"/>
            <a:ext cx="6492842" cy="1997114"/>
            <a:chOff x="-2" y="215858"/>
            <a:chExt cx="8369238" cy="2699795"/>
          </a:xfrm>
        </p:grpSpPr>
        <p:sp>
          <p:nvSpPr>
            <p:cNvPr id="3" name="TextBox 3"/>
            <p:cNvSpPr txBox="1"/>
            <p:nvPr/>
          </p:nvSpPr>
          <p:spPr>
            <a:xfrm>
              <a:off x="-2" y="215858"/>
              <a:ext cx="8369238" cy="7930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51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267" b="1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/>
                  <a:ea typeface="Evolventa Bold"/>
                  <a:cs typeface="Evolventa Bold"/>
                  <a:sym typeface="Evolventa Bold"/>
                </a:rPr>
                <a:t>Блоки исключений: </a:t>
              </a:r>
              <a:r>
                <a:rPr kumimoji="0" lang="en-US" sz="4267" b="1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/>
                  <a:ea typeface="Evolventa Bold"/>
                  <a:cs typeface="Evolventa Bold"/>
                  <a:sym typeface="Evolventa Bold"/>
                </a:rPr>
                <a:t>TRY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" y="1523908"/>
              <a:ext cx="7347736" cy="13917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02275" lvl="1" indent="-151138" defTabSz="609630">
                <a:lnSpc>
                  <a:spcPts val="1960"/>
                </a:lnSpc>
                <a:buFont typeface="Arial"/>
                <a:buChar char="•"/>
              </a:pPr>
              <a:r>
                <a:rPr lang="ru-RU" sz="20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С помощью блока </a:t>
              </a:r>
              <a:r>
                <a:rPr lang="ru-RU" sz="2000" b="1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try</a:t>
              </a:r>
              <a:r>
                <a:rPr lang="ru-RU" sz="20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  <a:r>
                <a:rPr lang="ru-RU" sz="2000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Python</a:t>
              </a:r>
              <a:r>
                <a:rPr lang="ru-RU" sz="20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 проверяет код на наличие исключений. Если в </a:t>
              </a:r>
              <a:r>
                <a:rPr lang="ru-RU" sz="2000" b="1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try</a:t>
              </a:r>
              <a:r>
                <a:rPr lang="ru-RU" sz="20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 встречается ошибка, выполнение переходит к первому блоку </a:t>
              </a:r>
              <a:r>
                <a:rPr lang="ru-RU" sz="2000" b="1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except</a:t>
              </a:r>
              <a:r>
                <a:rPr lang="ru-RU" sz="20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.</a:t>
              </a: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-642274"/>
            <a:ext cx="3064959" cy="1894702"/>
          </a:xfrm>
          <a:custGeom>
            <a:avLst/>
            <a:gdLst/>
            <a:ahLst/>
            <a:cxnLst/>
            <a:rect l="l" t="t" r="r" b="b"/>
            <a:pathLst>
              <a:path w="4597438" h="2842053">
                <a:moveTo>
                  <a:pt x="0" y="0"/>
                </a:moveTo>
                <a:lnTo>
                  <a:pt x="4597438" y="0"/>
                </a:lnTo>
                <a:lnTo>
                  <a:pt x="4597438" y="2842052"/>
                </a:lnTo>
                <a:lnTo>
                  <a:pt x="0" y="2842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7034558" y="260398"/>
            <a:ext cx="1384445" cy="850805"/>
          </a:xfrm>
          <a:custGeom>
            <a:avLst/>
            <a:gdLst/>
            <a:ahLst/>
            <a:cxnLst/>
            <a:rect l="l" t="t" r="r" b="b"/>
            <a:pathLst>
              <a:path w="2076668" h="1276207">
                <a:moveTo>
                  <a:pt x="2076668" y="0"/>
                </a:moveTo>
                <a:lnTo>
                  <a:pt x="0" y="0"/>
                </a:lnTo>
                <a:lnTo>
                  <a:pt x="0" y="1276208"/>
                </a:lnTo>
                <a:lnTo>
                  <a:pt x="2076668" y="1276208"/>
                </a:lnTo>
                <a:lnTo>
                  <a:pt x="20766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759121" y="-1631997"/>
            <a:ext cx="2558657" cy="2743200"/>
          </a:xfrm>
          <a:custGeom>
            <a:avLst/>
            <a:gdLst/>
            <a:ahLst/>
            <a:cxnLst/>
            <a:rect l="l" t="t" r="r" b="b"/>
            <a:pathLst>
              <a:path w="3837986" h="4114800">
                <a:moveTo>
                  <a:pt x="0" y="0"/>
                </a:moveTo>
                <a:lnTo>
                  <a:pt x="3837987" y="0"/>
                </a:lnTo>
                <a:lnTo>
                  <a:pt x="38379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329498" y="-2506136"/>
            <a:ext cx="3571835" cy="3727722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0" y="0"/>
                </a:moveTo>
                <a:lnTo>
                  <a:pt x="5357752" y="0"/>
                </a:lnTo>
                <a:lnTo>
                  <a:pt x="5357752" y="5591583"/>
                </a:lnTo>
                <a:lnTo>
                  <a:pt x="0" y="5591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9A162C-D51D-46EB-ADAE-FD6F62C62ED4}"/>
              </a:ext>
            </a:extLst>
          </p:cNvPr>
          <p:cNvPicPr/>
          <p:nvPr/>
        </p:nvPicPr>
        <p:blipFill>
          <a:blip r:embed="rId10"/>
          <a:stretch>
            <a:fillRect/>
          </a:stretch>
        </p:blipFill>
        <p:spPr>
          <a:xfrm>
            <a:off x="6687973" y="1573530"/>
            <a:ext cx="5020310" cy="1733550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4199AE80-1485-4CE6-9A6D-DEA92EEADE8F}"/>
              </a:ext>
            </a:extLst>
          </p:cNvPr>
          <p:cNvSpPr/>
          <p:nvPr/>
        </p:nvSpPr>
        <p:spPr>
          <a:xfrm>
            <a:off x="4259127" y="3786402"/>
            <a:ext cx="2389632" cy="654025"/>
          </a:xfrm>
          <a:prstGeom prst="roundRect">
            <a:avLst/>
          </a:prstGeom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A1BD88C1-379D-4ADD-A5F9-4CFF5EBB637A}"/>
              </a:ext>
            </a:extLst>
          </p:cNvPr>
          <p:cNvSpPr/>
          <p:nvPr/>
        </p:nvSpPr>
        <p:spPr>
          <a:xfrm>
            <a:off x="4259127" y="4681777"/>
            <a:ext cx="2389632" cy="654025"/>
          </a:xfrm>
          <a:prstGeom prst="roundRect">
            <a:avLst/>
          </a:prstGeom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B5A73B8-27E7-4500-800D-2F97550C6BDC}"/>
              </a:ext>
            </a:extLst>
          </p:cNvPr>
          <p:cNvSpPr/>
          <p:nvPr/>
        </p:nvSpPr>
        <p:spPr>
          <a:xfrm>
            <a:off x="4259127" y="5582232"/>
            <a:ext cx="2389632" cy="654025"/>
          </a:xfrm>
          <a:prstGeom prst="roundRect">
            <a:avLst/>
          </a:prstGeom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Дуга 17">
            <a:extLst>
              <a:ext uri="{FF2B5EF4-FFF2-40B4-BE49-F238E27FC236}">
                <a16:creationId xmlns:a16="http://schemas.microsoft.com/office/drawing/2014/main" id="{8FF2C624-7F33-4CF1-BAC6-18789F6569ED}"/>
              </a:ext>
            </a:extLst>
          </p:cNvPr>
          <p:cNvSpPr/>
          <p:nvPr/>
        </p:nvSpPr>
        <p:spPr>
          <a:xfrm rot="13450780">
            <a:off x="3394518" y="4235790"/>
            <a:ext cx="1666622" cy="1701759"/>
          </a:xfrm>
          <a:prstGeom prst="arc">
            <a:avLst>
              <a:gd name="adj1" fmla="val 13412476"/>
              <a:gd name="adj2" fmla="val 2875824"/>
            </a:avLst>
          </a:prstGeom>
          <a:ln w="38100">
            <a:solidFill>
              <a:srgbClr val="2B4B8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Дуга 18">
            <a:extLst>
              <a:ext uri="{FF2B5EF4-FFF2-40B4-BE49-F238E27FC236}">
                <a16:creationId xmlns:a16="http://schemas.microsoft.com/office/drawing/2014/main" id="{A50C8A4C-5ABC-4320-989D-4EA63266B1F8}"/>
              </a:ext>
            </a:extLst>
          </p:cNvPr>
          <p:cNvSpPr/>
          <p:nvPr/>
        </p:nvSpPr>
        <p:spPr>
          <a:xfrm rot="2426400">
            <a:off x="6267511" y="4116092"/>
            <a:ext cx="852666" cy="870643"/>
          </a:xfrm>
          <a:prstGeom prst="arc">
            <a:avLst>
              <a:gd name="adj1" fmla="val 13412476"/>
              <a:gd name="adj2" fmla="val 3331090"/>
            </a:avLst>
          </a:prstGeom>
          <a:ln w="38100">
            <a:solidFill>
              <a:srgbClr val="2B4B8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062FB8F-E543-45E6-8B30-6DA2516F0EC0}"/>
              </a:ext>
            </a:extLst>
          </p:cNvPr>
          <p:cNvSpPr/>
          <p:nvPr/>
        </p:nvSpPr>
        <p:spPr>
          <a:xfrm>
            <a:off x="920496" y="4848420"/>
            <a:ext cx="2779997" cy="437549"/>
          </a:xfrm>
          <a:prstGeom prst="rect">
            <a:avLst/>
          </a:prstGeom>
          <a:solidFill>
            <a:srgbClr val="EFEFEF"/>
          </a:solidFill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4C0467-3BF1-406F-849C-F09BC0523493}"/>
              </a:ext>
            </a:extLst>
          </p:cNvPr>
          <p:cNvSpPr txBox="1"/>
          <p:nvPr/>
        </p:nvSpPr>
        <p:spPr>
          <a:xfrm>
            <a:off x="4259127" y="3821026"/>
            <a:ext cx="2394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94DDDE"/>
                </a:solidFill>
                <a:latin typeface="Evolventa Bold"/>
              </a:rPr>
              <a:t>TRY</a:t>
            </a:r>
            <a:endParaRPr lang="ru-RU" sz="3200" dirty="0">
              <a:solidFill>
                <a:srgbClr val="94DDDE"/>
              </a:solidFill>
              <a:latin typeface="Evolventa Bol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4F9DA5-AFB9-4881-94BA-6D2CB3BC54E4}"/>
              </a:ext>
            </a:extLst>
          </p:cNvPr>
          <p:cNvSpPr txBox="1"/>
          <p:nvPr/>
        </p:nvSpPr>
        <p:spPr>
          <a:xfrm>
            <a:off x="4246012" y="4728675"/>
            <a:ext cx="2394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7B4A7"/>
                </a:solidFill>
                <a:latin typeface="Evolventa Bold"/>
              </a:rPr>
              <a:t>EXCEPT</a:t>
            </a:r>
            <a:endParaRPr lang="ru-RU" sz="3200" dirty="0">
              <a:solidFill>
                <a:srgbClr val="F7B4A7"/>
              </a:solidFill>
              <a:latin typeface="Evolventa Bold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2E87BC-4BC8-4023-A567-BCDFCC2919E6}"/>
              </a:ext>
            </a:extLst>
          </p:cNvPr>
          <p:cNvSpPr txBox="1"/>
          <p:nvPr/>
        </p:nvSpPr>
        <p:spPr>
          <a:xfrm>
            <a:off x="4259127" y="5624418"/>
            <a:ext cx="2394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FEFEF"/>
                </a:solidFill>
                <a:latin typeface="Evolventa Bold"/>
              </a:rPr>
              <a:t>ELSE</a:t>
            </a:r>
            <a:endParaRPr lang="ru-RU" sz="3200" dirty="0">
              <a:solidFill>
                <a:srgbClr val="EFEFEF"/>
              </a:solidFill>
              <a:latin typeface="Evolventa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83A596-8ED7-4510-9550-18E47FFB6FCF}"/>
              </a:ext>
            </a:extLst>
          </p:cNvPr>
          <p:cNvSpPr txBox="1"/>
          <p:nvPr/>
        </p:nvSpPr>
        <p:spPr>
          <a:xfrm>
            <a:off x="912070" y="4882528"/>
            <a:ext cx="2779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2B4B82"/>
                </a:solidFill>
                <a:latin typeface="Evolventa Bold"/>
              </a:rPr>
              <a:t>Если в блоке нет ошибок 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97FE95AA-56C2-4DEA-A510-91551E192469}"/>
              </a:ext>
            </a:extLst>
          </p:cNvPr>
          <p:cNvSpPr/>
          <p:nvPr/>
        </p:nvSpPr>
        <p:spPr>
          <a:xfrm>
            <a:off x="6919387" y="4345235"/>
            <a:ext cx="2651333" cy="418803"/>
          </a:xfrm>
          <a:prstGeom prst="roundRect">
            <a:avLst/>
          </a:prstGeom>
          <a:solidFill>
            <a:srgbClr val="EFEFEF"/>
          </a:solidFill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5E237A-C4E0-4AF3-8603-5130D970FD0A}"/>
              </a:ext>
            </a:extLst>
          </p:cNvPr>
          <p:cNvSpPr txBox="1"/>
          <p:nvPr/>
        </p:nvSpPr>
        <p:spPr>
          <a:xfrm>
            <a:off x="6919387" y="4366326"/>
            <a:ext cx="2779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2B4B82"/>
                </a:solidFill>
                <a:latin typeface="Evolventa Bold"/>
              </a:rPr>
              <a:t>Если в блоке ошибка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8724" y="1408299"/>
            <a:ext cx="6492842" cy="2375966"/>
            <a:chOff x="-2" y="215858"/>
            <a:chExt cx="8369238" cy="3211942"/>
          </a:xfrm>
        </p:grpSpPr>
        <p:sp>
          <p:nvSpPr>
            <p:cNvPr id="3" name="TextBox 3"/>
            <p:cNvSpPr txBox="1"/>
            <p:nvPr/>
          </p:nvSpPr>
          <p:spPr>
            <a:xfrm>
              <a:off x="-2" y="215858"/>
              <a:ext cx="8369238" cy="8841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51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267" b="1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/>
                  <a:ea typeface="Evolventa Bold"/>
                  <a:cs typeface="Evolventa Bold"/>
                  <a:sym typeface="Evolventa Bold"/>
                </a:rPr>
                <a:t>Блоки исключений: </a:t>
              </a:r>
              <a:r>
                <a:rPr kumimoji="0" lang="en-US" sz="4267" b="1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/>
                  <a:ea typeface="Evolventa Bold"/>
                  <a:cs typeface="Evolventa Bold"/>
                  <a:sym typeface="Evolventa Bold"/>
                </a:rPr>
                <a:t>EXCEPT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" y="1342607"/>
              <a:ext cx="7347736" cy="20851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02275" lvl="1" indent="-151138" defTabSz="609630">
                <a:lnSpc>
                  <a:spcPts val="1960"/>
                </a:lnSpc>
                <a:buFont typeface="Arial"/>
                <a:buChar char="•"/>
              </a:pPr>
              <a:r>
                <a:rPr lang="ru-RU" sz="20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С помощью блоков </a:t>
              </a:r>
              <a:r>
                <a:rPr lang="ru-RU" sz="2000" b="1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except</a:t>
              </a:r>
              <a:r>
                <a:rPr lang="ru-RU" sz="20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 можно обрабатывать несколько исключений разными способами. Каждый </a:t>
              </a:r>
              <a:r>
                <a:rPr lang="ru-RU" sz="2000" b="1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except</a:t>
              </a:r>
              <a:r>
                <a:rPr lang="ru-RU" sz="20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 соответствует определённому типу ошибки.</a:t>
              </a:r>
            </a:p>
            <a:p>
              <a:pPr marL="302275" lvl="1" indent="-151138" defTabSz="609630">
                <a:lnSpc>
                  <a:spcPts val="1960"/>
                </a:lnSpc>
                <a:buFont typeface="Arial"/>
                <a:buChar char="•"/>
              </a:pP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Блоков 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except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может быть </a:t>
              </a:r>
              <a:b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</a:b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столько, сколько необходимо.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-642274"/>
            <a:ext cx="3064959" cy="1894702"/>
          </a:xfrm>
          <a:custGeom>
            <a:avLst/>
            <a:gdLst/>
            <a:ahLst/>
            <a:cxnLst/>
            <a:rect l="l" t="t" r="r" b="b"/>
            <a:pathLst>
              <a:path w="4597438" h="2842053">
                <a:moveTo>
                  <a:pt x="0" y="0"/>
                </a:moveTo>
                <a:lnTo>
                  <a:pt x="4597438" y="0"/>
                </a:lnTo>
                <a:lnTo>
                  <a:pt x="4597438" y="2842052"/>
                </a:lnTo>
                <a:lnTo>
                  <a:pt x="0" y="2842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7034558" y="260398"/>
            <a:ext cx="1384445" cy="850805"/>
          </a:xfrm>
          <a:custGeom>
            <a:avLst/>
            <a:gdLst/>
            <a:ahLst/>
            <a:cxnLst/>
            <a:rect l="l" t="t" r="r" b="b"/>
            <a:pathLst>
              <a:path w="2076668" h="1276207">
                <a:moveTo>
                  <a:pt x="2076668" y="0"/>
                </a:moveTo>
                <a:lnTo>
                  <a:pt x="0" y="0"/>
                </a:lnTo>
                <a:lnTo>
                  <a:pt x="0" y="1276208"/>
                </a:lnTo>
                <a:lnTo>
                  <a:pt x="2076668" y="1276208"/>
                </a:lnTo>
                <a:lnTo>
                  <a:pt x="20766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759121" y="-1631997"/>
            <a:ext cx="2558657" cy="2743200"/>
          </a:xfrm>
          <a:custGeom>
            <a:avLst/>
            <a:gdLst/>
            <a:ahLst/>
            <a:cxnLst/>
            <a:rect l="l" t="t" r="r" b="b"/>
            <a:pathLst>
              <a:path w="3837986" h="4114800">
                <a:moveTo>
                  <a:pt x="0" y="0"/>
                </a:moveTo>
                <a:lnTo>
                  <a:pt x="3837987" y="0"/>
                </a:lnTo>
                <a:lnTo>
                  <a:pt x="38379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329498" y="-2506136"/>
            <a:ext cx="3571835" cy="3727722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0" y="0"/>
                </a:moveTo>
                <a:lnTo>
                  <a:pt x="5357752" y="0"/>
                </a:lnTo>
                <a:lnTo>
                  <a:pt x="5357752" y="5591583"/>
                </a:lnTo>
                <a:lnTo>
                  <a:pt x="0" y="5591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4199AE80-1485-4CE6-9A6D-DEA92EEADE8F}"/>
              </a:ext>
            </a:extLst>
          </p:cNvPr>
          <p:cNvSpPr/>
          <p:nvPr/>
        </p:nvSpPr>
        <p:spPr>
          <a:xfrm>
            <a:off x="4454199" y="3300991"/>
            <a:ext cx="2389632" cy="654025"/>
          </a:xfrm>
          <a:prstGeom prst="roundRect">
            <a:avLst/>
          </a:prstGeom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A1BD88C1-379D-4ADD-A5F9-4CFF5EBB637A}"/>
              </a:ext>
            </a:extLst>
          </p:cNvPr>
          <p:cNvSpPr/>
          <p:nvPr/>
        </p:nvSpPr>
        <p:spPr>
          <a:xfrm>
            <a:off x="4454199" y="4196366"/>
            <a:ext cx="2389632" cy="654025"/>
          </a:xfrm>
          <a:prstGeom prst="roundRect">
            <a:avLst/>
          </a:prstGeom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Дуга 17">
            <a:extLst>
              <a:ext uri="{FF2B5EF4-FFF2-40B4-BE49-F238E27FC236}">
                <a16:creationId xmlns:a16="http://schemas.microsoft.com/office/drawing/2014/main" id="{8FF2C624-7F33-4CF1-BAC6-18789F6569ED}"/>
              </a:ext>
            </a:extLst>
          </p:cNvPr>
          <p:cNvSpPr/>
          <p:nvPr/>
        </p:nvSpPr>
        <p:spPr>
          <a:xfrm rot="13450780">
            <a:off x="3589590" y="3750379"/>
            <a:ext cx="1666622" cy="1701759"/>
          </a:xfrm>
          <a:prstGeom prst="arc">
            <a:avLst>
              <a:gd name="adj1" fmla="val 13412476"/>
              <a:gd name="adj2" fmla="val 2875824"/>
            </a:avLst>
          </a:prstGeom>
          <a:ln w="38100">
            <a:solidFill>
              <a:srgbClr val="2B4B8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Дуга 18">
            <a:extLst>
              <a:ext uri="{FF2B5EF4-FFF2-40B4-BE49-F238E27FC236}">
                <a16:creationId xmlns:a16="http://schemas.microsoft.com/office/drawing/2014/main" id="{A50C8A4C-5ABC-4320-989D-4EA63266B1F8}"/>
              </a:ext>
            </a:extLst>
          </p:cNvPr>
          <p:cNvSpPr/>
          <p:nvPr/>
        </p:nvSpPr>
        <p:spPr>
          <a:xfrm rot="2426400">
            <a:off x="6462583" y="3630681"/>
            <a:ext cx="852666" cy="870643"/>
          </a:xfrm>
          <a:prstGeom prst="arc">
            <a:avLst>
              <a:gd name="adj1" fmla="val 13412476"/>
              <a:gd name="adj2" fmla="val 3331090"/>
            </a:avLst>
          </a:prstGeom>
          <a:ln w="38100">
            <a:solidFill>
              <a:srgbClr val="2B4B8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4C0467-3BF1-406F-849C-F09BC0523493}"/>
              </a:ext>
            </a:extLst>
          </p:cNvPr>
          <p:cNvSpPr txBox="1"/>
          <p:nvPr/>
        </p:nvSpPr>
        <p:spPr>
          <a:xfrm>
            <a:off x="4454199" y="3335615"/>
            <a:ext cx="2394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94DDDE"/>
                </a:solidFill>
                <a:effectLst/>
                <a:uLnTx/>
                <a:uFillTx/>
                <a:latin typeface="Evolventa Bold"/>
                <a:ea typeface="+mn-ea"/>
                <a:cs typeface="+mn-cs"/>
              </a:rPr>
              <a:t>TRY</a:t>
            </a: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rgbClr val="94DDDE"/>
              </a:solidFill>
              <a:effectLst/>
              <a:uLnTx/>
              <a:uFillTx/>
              <a:latin typeface="Evolventa Bold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4F9DA5-AFB9-4881-94BA-6D2CB3BC54E4}"/>
              </a:ext>
            </a:extLst>
          </p:cNvPr>
          <p:cNvSpPr txBox="1"/>
          <p:nvPr/>
        </p:nvSpPr>
        <p:spPr>
          <a:xfrm>
            <a:off x="4441084" y="4243264"/>
            <a:ext cx="2394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7B4A7"/>
                </a:solidFill>
                <a:effectLst/>
                <a:uLnTx/>
                <a:uFillTx/>
                <a:latin typeface="Evolventa Bold"/>
                <a:ea typeface="+mn-ea"/>
                <a:cs typeface="+mn-cs"/>
              </a:rPr>
              <a:t>EXCEPT</a:t>
            </a: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rgbClr val="F7B4A7"/>
              </a:solidFill>
              <a:effectLst/>
              <a:uLnTx/>
              <a:uFillTx/>
              <a:latin typeface="Evolventa Bold"/>
              <a:ea typeface="+mn-ea"/>
              <a:cs typeface="+mn-cs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97FE95AA-56C2-4DEA-A510-91551E192469}"/>
              </a:ext>
            </a:extLst>
          </p:cNvPr>
          <p:cNvSpPr/>
          <p:nvPr/>
        </p:nvSpPr>
        <p:spPr>
          <a:xfrm>
            <a:off x="7114459" y="3859824"/>
            <a:ext cx="3760805" cy="418803"/>
          </a:xfrm>
          <a:prstGeom prst="roundRect">
            <a:avLst/>
          </a:prstGeom>
          <a:solidFill>
            <a:srgbClr val="EFEFEF"/>
          </a:solidFill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5E237A-C4E0-4AF3-8603-5130D970FD0A}"/>
              </a:ext>
            </a:extLst>
          </p:cNvPr>
          <p:cNvSpPr txBox="1"/>
          <p:nvPr/>
        </p:nvSpPr>
        <p:spPr>
          <a:xfrm>
            <a:off x="7114459" y="3880915"/>
            <a:ext cx="3651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+mn-ea"/>
                <a:cs typeface="+mn-cs"/>
              </a:rPr>
              <a:t>Если в блоке ошибка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+mn-ea"/>
                <a:cs typeface="+mn-cs"/>
              </a:rPr>
              <a:t>одного типа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E608B5FE-E815-4AAC-ABDC-5212F1D291F0}"/>
              </a:ext>
            </a:extLst>
          </p:cNvPr>
          <p:cNvPicPr/>
          <p:nvPr/>
        </p:nvPicPr>
        <p:blipFill rotWithShape="1">
          <a:blip r:embed="rId10"/>
          <a:srcRect r="25961"/>
          <a:stretch/>
        </p:blipFill>
        <p:spPr>
          <a:xfrm>
            <a:off x="7312252" y="1597776"/>
            <a:ext cx="4398207" cy="2005965"/>
          </a:xfrm>
          <a:prstGeom prst="rect">
            <a:avLst/>
          </a:prstGeom>
        </p:spPr>
      </p:pic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0921AD17-E6C3-4C8B-809B-9C5F87FB15BF}"/>
              </a:ext>
            </a:extLst>
          </p:cNvPr>
          <p:cNvSpPr/>
          <p:nvPr/>
        </p:nvSpPr>
        <p:spPr>
          <a:xfrm>
            <a:off x="4462625" y="5110415"/>
            <a:ext cx="2389632" cy="654025"/>
          </a:xfrm>
          <a:prstGeom prst="roundRect">
            <a:avLst/>
          </a:prstGeom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EADD4A-BF1A-4527-8351-A16940434E68}"/>
              </a:ext>
            </a:extLst>
          </p:cNvPr>
          <p:cNvSpPr txBox="1"/>
          <p:nvPr/>
        </p:nvSpPr>
        <p:spPr>
          <a:xfrm>
            <a:off x="4449510" y="5157313"/>
            <a:ext cx="2394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7B4A7"/>
                </a:solidFill>
                <a:effectLst/>
                <a:uLnTx/>
                <a:uFillTx/>
                <a:latin typeface="Evolventa Bold"/>
                <a:ea typeface="+mn-ea"/>
                <a:cs typeface="+mn-cs"/>
              </a:rPr>
              <a:t>EXCEPT</a:t>
            </a: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rgbClr val="F7B4A7"/>
              </a:solidFill>
              <a:effectLst/>
              <a:uLnTx/>
              <a:uFillTx/>
              <a:latin typeface="Evolventa Bold"/>
              <a:ea typeface="+mn-ea"/>
              <a:cs typeface="+mn-cs"/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F18C7B33-E5D9-4E1C-915E-214AF0E09358}"/>
              </a:ext>
            </a:extLst>
          </p:cNvPr>
          <p:cNvSpPr/>
          <p:nvPr/>
        </p:nvSpPr>
        <p:spPr>
          <a:xfrm>
            <a:off x="389412" y="4283438"/>
            <a:ext cx="3760805" cy="418803"/>
          </a:xfrm>
          <a:prstGeom prst="roundRect">
            <a:avLst/>
          </a:prstGeom>
          <a:solidFill>
            <a:srgbClr val="EFEFEF"/>
          </a:solidFill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5B7109-85C3-4CCC-A897-2D13AC1A12FF}"/>
              </a:ext>
            </a:extLst>
          </p:cNvPr>
          <p:cNvSpPr txBox="1"/>
          <p:nvPr/>
        </p:nvSpPr>
        <p:spPr>
          <a:xfrm>
            <a:off x="389412" y="4304529"/>
            <a:ext cx="3651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+mn-ea"/>
                <a:cs typeface="+mn-cs"/>
              </a:rPr>
              <a:t>Если в блоке ошибка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+mn-ea"/>
                <a:cs typeface="+mn-cs"/>
              </a:rPr>
              <a:t>другого типа</a:t>
            </a:r>
          </a:p>
        </p:txBody>
      </p:sp>
    </p:spTree>
    <p:extLst>
      <p:ext uri="{BB962C8B-B14F-4D97-AF65-F5344CB8AC3E}">
        <p14:creationId xmlns:p14="http://schemas.microsoft.com/office/powerpoint/2010/main" val="4261517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8724" y="1408299"/>
            <a:ext cx="6492842" cy="1484153"/>
            <a:chOff x="-2" y="215858"/>
            <a:chExt cx="8369238" cy="2006350"/>
          </a:xfrm>
        </p:grpSpPr>
        <p:sp>
          <p:nvSpPr>
            <p:cNvPr id="3" name="TextBox 3"/>
            <p:cNvSpPr txBox="1"/>
            <p:nvPr/>
          </p:nvSpPr>
          <p:spPr>
            <a:xfrm>
              <a:off x="-2" y="215858"/>
              <a:ext cx="8369238" cy="8841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51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267" b="1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/>
                  <a:ea typeface="Evolventa Bold"/>
                  <a:cs typeface="Evolventa Bold"/>
                  <a:sym typeface="Evolventa Bold"/>
                </a:rPr>
                <a:t>Блоки исключений: </a:t>
              </a:r>
              <a:r>
                <a:rPr kumimoji="0" lang="en-US" sz="4267" b="1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/>
                  <a:ea typeface="Evolventa Bold"/>
                  <a:cs typeface="Evolventa Bold"/>
                  <a:sym typeface="Evolventa Bold"/>
                </a:rPr>
                <a:t>ELSE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" y="1523908"/>
              <a:ext cx="7347736" cy="69830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02275" lvl="1" indent="-151138" defTabSz="609630">
                <a:lnSpc>
                  <a:spcPts val="1960"/>
                </a:lnSpc>
                <a:buFont typeface="Arial"/>
                <a:buChar char="•"/>
              </a:pPr>
              <a:r>
                <a:rPr lang="ru-RU" sz="20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Код в </a:t>
              </a:r>
              <a:r>
                <a:rPr lang="ru-RU" sz="2000" b="1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else</a:t>
              </a:r>
              <a:r>
                <a:rPr lang="ru-RU" sz="20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 выполняется, если </a:t>
              </a:r>
              <a:r>
                <a:rPr lang="ru-RU" sz="2000" b="1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try</a:t>
              </a:r>
              <a:r>
                <a:rPr lang="ru-RU" sz="20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 не нашёл исключений.</a:t>
              </a: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-642274"/>
            <a:ext cx="3064959" cy="1894702"/>
          </a:xfrm>
          <a:custGeom>
            <a:avLst/>
            <a:gdLst/>
            <a:ahLst/>
            <a:cxnLst/>
            <a:rect l="l" t="t" r="r" b="b"/>
            <a:pathLst>
              <a:path w="4597438" h="2842053">
                <a:moveTo>
                  <a:pt x="0" y="0"/>
                </a:moveTo>
                <a:lnTo>
                  <a:pt x="4597438" y="0"/>
                </a:lnTo>
                <a:lnTo>
                  <a:pt x="4597438" y="2842052"/>
                </a:lnTo>
                <a:lnTo>
                  <a:pt x="0" y="2842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7034558" y="260398"/>
            <a:ext cx="1384445" cy="850805"/>
          </a:xfrm>
          <a:custGeom>
            <a:avLst/>
            <a:gdLst/>
            <a:ahLst/>
            <a:cxnLst/>
            <a:rect l="l" t="t" r="r" b="b"/>
            <a:pathLst>
              <a:path w="2076668" h="1276207">
                <a:moveTo>
                  <a:pt x="2076668" y="0"/>
                </a:moveTo>
                <a:lnTo>
                  <a:pt x="0" y="0"/>
                </a:lnTo>
                <a:lnTo>
                  <a:pt x="0" y="1276208"/>
                </a:lnTo>
                <a:lnTo>
                  <a:pt x="2076668" y="1276208"/>
                </a:lnTo>
                <a:lnTo>
                  <a:pt x="20766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759121" y="-1631997"/>
            <a:ext cx="2558657" cy="2743200"/>
          </a:xfrm>
          <a:custGeom>
            <a:avLst/>
            <a:gdLst/>
            <a:ahLst/>
            <a:cxnLst/>
            <a:rect l="l" t="t" r="r" b="b"/>
            <a:pathLst>
              <a:path w="3837986" h="4114800">
                <a:moveTo>
                  <a:pt x="0" y="0"/>
                </a:moveTo>
                <a:lnTo>
                  <a:pt x="3837987" y="0"/>
                </a:lnTo>
                <a:lnTo>
                  <a:pt x="38379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329498" y="-2506136"/>
            <a:ext cx="3571835" cy="3727722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0" y="0"/>
                </a:moveTo>
                <a:lnTo>
                  <a:pt x="5357752" y="0"/>
                </a:lnTo>
                <a:lnTo>
                  <a:pt x="5357752" y="5591583"/>
                </a:lnTo>
                <a:lnTo>
                  <a:pt x="0" y="5591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4199AE80-1485-4CE6-9A6D-DEA92EEADE8F}"/>
              </a:ext>
            </a:extLst>
          </p:cNvPr>
          <p:cNvSpPr/>
          <p:nvPr/>
        </p:nvSpPr>
        <p:spPr>
          <a:xfrm>
            <a:off x="4259127" y="3786402"/>
            <a:ext cx="2389632" cy="654025"/>
          </a:xfrm>
          <a:prstGeom prst="roundRect">
            <a:avLst/>
          </a:prstGeom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A1BD88C1-379D-4ADD-A5F9-4CFF5EBB637A}"/>
              </a:ext>
            </a:extLst>
          </p:cNvPr>
          <p:cNvSpPr/>
          <p:nvPr/>
        </p:nvSpPr>
        <p:spPr>
          <a:xfrm>
            <a:off x="4259127" y="4681777"/>
            <a:ext cx="2389632" cy="654025"/>
          </a:xfrm>
          <a:prstGeom prst="roundRect">
            <a:avLst/>
          </a:prstGeom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B5A73B8-27E7-4500-800D-2F97550C6BDC}"/>
              </a:ext>
            </a:extLst>
          </p:cNvPr>
          <p:cNvSpPr/>
          <p:nvPr/>
        </p:nvSpPr>
        <p:spPr>
          <a:xfrm>
            <a:off x="4259127" y="5582232"/>
            <a:ext cx="2389632" cy="654025"/>
          </a:xfrm>
          <a:prstGeom prst="roundRect">
            <a:avLst/>
          </a:prstGeom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Дуга 17">
            <a:extLst>
              <a:ext uri="{FF2B5EF4-FFF2-40B4-BE49-F238E27FC236}">
                <a16:creationId xmlns:a16="http://schemas.microsoft.com/office/drawing/2014/main" id="{8FF2C624-7F33-4CF1-BAC6-18789F6569ED}"/>
              </a:ext>
            </a:extLst>
          </p:cNvPr>
          <p:cNvSpPr/>
          <p:nvPr/>
        </p:nvSpPr>
        <p:spPr>
          <a:xfrm rot="13450780">
            <a:off x="3394518" y="4235790"/>
            <a:ext cx="1666622" cy="1701759"/>
          </a:xfrm>
          <a:prstGeom prst="arc">
            <a:avLst>
              <a:gd name="adj1" fmla="val 13412476"/>
              <a:gd name="adj2" fmla="val 2875824"/>
            </a:avLst>
          </a:prstGeom>
          <a:ln w="38100">
            <a:solidFill>
              <a:srgbClr val="2B4B8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Дуга 18">
            <a:extLst>
              <a:ext uri="{FF2B5EF4-FFF2-40B4-BE49-F238E27FC236}">
                <a16:creationId xmlns:a16="http://schemas.microsoft.com/office/drawing/2014/main" id="{A50C8A4C-5ABC-4320-989D-4EA63266B1F8}"/>
              </a:ext>
            </a:extLst>
          </p:cNvPr>
          <p:cNvSpPr/>
          <p:nvPr/>
        </p:nvSpPr>
        <p:spPr>
          <a:xfrm rot="2426400">
            <a:off x="6267511" y="4116092"/>
            <a:ext cx="852666" cy="870643"/>
          </a:xfrm>
          <a:prstGeom prst="arc">
            <a:avLst>
              <a:gd name="adj1" fmla="val 13412476"/>
              <a:gd name="adj2" fmla="val 3331090"/>
            </a:avLst>
          </a:prstGeom>
          <a:ln w="38100">
            <a:solidFill>
              <a:srgbClr val="2B4B8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062FB8F-E543-45E6-8B30-6DA2516F0EC0}"/>
              </a:ext>
            </a:extLst>
          </p:cNvPr>
          <p:cNvSpPr/>
          <p:nvPr/>
        </p:nvSpPr>
        <p:spPr>
          <a:xfrm>
            <a:off x="920496" y="4848420"/>
            <a:ext cx="2779997" cy="437549"/>
          </a:xfrm>
          <a:prstGeom prst="rect">
            <a:avLst/>
          </a:prstGeom>
          <a:solidFill>
            <a:srgbClr val="EFEFEF"/>
          </a:solidFill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4C0467-3BF1-406F-849C-F09BC0523493}"/>
              </a:ext>
            </a:extLst>
          </p:cNvPr>
          <p:cNvSpPr txBox="1"/>
          <p:nvPr/>
        </p:nvSpPr>
        <p:spPr>
          <a:xfrm>
            <a:off x="4259127" y="3821026"/>
            <a:ext cx="2394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94DDDE"/>
                </a:solidFill>
                <a:latin typeface="Evolventa Bold"/>
              </a:rPr>
              <a:t>TRY</a:t>
            </a:r>
            <a:endParaRPr lang="ru-RU" sz="3200" dirty="0">
              <a:solidFill>
                <a:srgbClr val="94DDDE"/>
              </a:solidFill>
              <a:latin typeface="Evolventa Bol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4F9DA5-AFB9-4881-94BA-6D2CB3BC54E4}"/>
              </a:ext>
            </a:extLst>
          </p:cNvPr>
          <p:cNvSpPr txBox="1"/>
          <p:nvPr/>
        </p:nvSpPr>
        <p:spPr>
          <a:xfrm>
            <a:off x="4246012" y="4728675"/>
            <a:ext cx="2394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7B4A7"/>
                </a:solidFill>
                <a:latin typeface="Evolventa Bold"/>
              </a:rPr>
              <a:t>EXCEPT</a:t>
            </a:r>
            <a:endParaRPr lang="ru-RU" sz="3200" dirty="0">
              <a:solidFill>
                <a:srgbClr val="F7B4A7"/>
              </a:solidFill>
              <a:latin typeface="Evolventa Bold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2E87BC-4BC8-4023-A567-BCDFCC2919E6}"/>
              </a:ext>
            </a:extLst>
          </p:cNvPr>
          <p:cNvSpPr txBox="1"/>
          <p:nvPr/>
        </p:nvSpPr>
        <p:spPr>
          <a:xfrm>
            <a:off x="4259127" y="5624418"/>
            <a:ext cx="2394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FEFEF"/>
                </a:solidFill>
                <a:latin typeface="Evolventa Bold"/>
              </a:rPr>
              <a:t>ELSE</a:t>
            </a:r>
            <a:endParaRPr lang="ru-RU" sz="3200" dirty="0">
              <a:solidFill>
                <a:srgbClr val="EFEFEF"/>
              </a:solidFill>
              <a:latin typeface="Evolventa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83A596-8ED7-4510-9550-18E47FFB6FCF}"/>
              </a:ext>
            </a:extLst>
          </p:cNvPr>
          <p:cNvSpPr txBox="1"/>
          <p:nvPr/>
        </p:nvSpPr>
        <p:spPr>
          <a:xfrm>
            <a:off x="912070" y="4882528"/>
            <a:ext cx="2779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2B4B82"/>
                </a:solidFill>
                <a:latin typeface="Evolventa Bold"/>
              </a:rPr>
              <a:t>Если в блоке нет ошибок 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97FE95AA-56C2-4DEA-A510-91551E192469}"/>
              </a:ext>
            </a:extLst>
          </p:cNvPr>
          <p:cNvSpPr/>
          <p:nvPr/>
        </p:nvSpPr>
        <p:spPr>
          <a:xfrm>
            <a:off x="6919387" y="4345235"/>
            <a:ext cx="2651333" cy="418803"/>
          </a:xfrm>
          <a:prstGeom prst="roundRect">
            <a:avLst/>
          </a:prstGeom>
          <a:solidFill>
            <a:srgbClr val="EFEFEF"/>
          </a:solidFill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5E237A-C4E0-4AF3-8603-5130D970FD0A}"/>
              </a:ext>
            </a:extLst>
          </p:cNvPr>
          <p:cNvSpPr txBox="1"/>
          <p:nvPr/>
        </p:nvSpPr>
        <p:spPr>
          <a:xfrm>
            <a:off x="6919387" y="4366326"/>
            <a:ext cx="2779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2B4B82"/>
                </a:solidFill>
                <a:latin typeface="Evolventa Bold"/>
              </a:rPr>
              <a:t>Если в блоке ошибка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82C2D65B-F6F0-467D-854C-95025BF42207}"/>
              </a:ext>
            </a:extLst>
          </p:cNvPr>
          <p:cNvPicPr/>
          <p:nvPr/>
        </p:nvPicPr>
        <p:blipFill rotWithShape="1">
          <a:blip r:embed="rId10"/>
          <a:srcRect r="5265"/>
          <a:stretch/>
        </p:blipFill>
        <p:spPr bwMode="auto">
          <a:xfrm>
            <a:off x="6640333" y="1509834"/>
            <a:ext cx="5323840" cy="21907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67920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9012" y="1252428"/>
            <a:ext cx="6986917" cy="1942534"/>
            <a:chOff x="-385" y="215858"/>
            <a:chExt cx="9006098" cy="2626012"/>
          </a:xfrm>
        </p:grpSpPr>
        <p:sp>
          <p:nvSpPr>
            <p:cNvPr id="3" name="TextBox 3"/>
            <p:cNvSpPr txBox="1"/>
            <p:nvPr/>
          </p:nvSpPr>
          <p:spPr>
            <a:xfrm>
              <a:off x="-2" y="215858"/>
              <a:ext cx="9005715" cy="8841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51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267" b="1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/>
                  <a:ea typeface="Evolventa Bold"/>
                  <a:cs typeface="Evolventa Bold"/>
                  <a:sym typeface="Evolventa Bold"/>
                </a:rPr>
                <a:t>Блоки исключений: </a:t>
              </a:r>
              <a:r>
                <a:rPr kumimoji="0" lang="en-US" sz="4267" b="1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/>
                  <a:ea typeface="Evolventa Bold"/>
                  <a:cs typeface="Evolventa Bold"/>
                  <a:sym typeface="Evolventa Bold"/>
                </a:rPr>
                <a:t>FINALLY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385" y="1103402"/>
              <a:ext cx="7347735" cy="17384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02275" lvl="1" indent="-151138" defTabSz="609630">
                <a:lnSpc>
                  <a:spcPts val="1960"/>
                </a:lnSpc>
                <a:buFont typeface="Arial"/>
                <a:buChar char="•"/>
              </a:pPr>
              <a:r>
                <a:rPr lang="ru-RU" sz="20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В </a:t>
              </a:r>
              <a:r>
                <a:rPr lang="ru-RU" sz="2000" b="1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finally</a:t>
              </a:r>
              <a:r>
                <a:rPr lang="ru-RU" sz="20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 помещают код, который будет выполняться независимо от того, была ли найдена ошибка или нет. Часто этот блок используют для работы с файлами, чтобы закрыть документ.</a:t>
              </a: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-642274"/>
            <a:ext cx="3064959" cy="1894702"/>
          </a:xfrm>
          <a:custGeom>
            <a:avLst/>
            <a:gdLst/>
            <a:ahLst/>
            <a:cxnLst/>
            <a:rect l="l" t="t" r="r" b="b"/>
            <a:pathLst>
              <a:path w="4597438" h="2842053">
                <a:moveTo>
                  <a:pt x="0" y="0"/>
                </a:moveTo>
                <a:lnTo>
                  <a:pt x="4597438" y="0"/>
                </a:lnTo>
                <a:lnTo>
                  <a:pt x="4597438" y="2842052"/>
                </a:lnTo>
                <a:lnTo>
                  <a:pt x="0" y="2842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7034558" y="260398"/>
            <a:ext cx="1384445" cy="850805"/>
          </a:xfrm>
          <a:custGeom>
            <a:avLst/>
            <a:gdLst/>
            <a:ahLst/>
            <a:cxnLst/>
            <a:rect l="l" t="t" r="r" b="b"/>
            <a:pathLst>
              <a:path w="2076668" h="1276207">
                <a:moveTo>
                  <a:pt x="2076668" y="0"/>
                </a:moveTo>
                <a:lnTo>
                  <a:pt x="0" y="0"/>
                </a:lnTo>
                <a:lnTo>
                  <a:pt x="0" y="1276208"/>
                </a:lnTo>
                <a:lnTo>
                  <a:pt x="2076668" y="1276208"/>
                </a:lnTo>
                <a:lnTo>
                  <a:pt x="20766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759121" y="-1631997"/>
            <a:ext cx="2558657" cy="2743200"/>
          </a:xfrm>
          <a:custGeom>
            <a:avLst/>
            <a:gdLst/>
            <a:ahLst/>
            <a:cxnLst/>
            <a:rect l="l" t="t" r="r" b="b"/>
            <a:pathLst>
              <a:path w="3837986" h="4114800">
                <a:moveTo>
                  <a:pt x="0" y="0"/>
                </a:moveTo>
                <a:lnTo>
                  <a:pt x="3837987" y="0"/>
                </a:lnTo>
                <a:lnTo>
                  <a:pt x="38379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329498" y="-2506136"/>
            <a:ext cx="3571835" cy="3727722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0" y="0"/>
                </a:moveTo>
                <a:lnTo>
                  <a:pt x="5357752" y="0"/>
                </a:lnTo>
                <a:lnTo>
                  <a:pt x="5357752" y="5591583"/>
                </a:lnTo>
                <a:lnTo>
                  <a:pt x="0" y="55915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8C62A4F-41B6-4321-886F-1CFD29EE794B}"/>
              </a:ext>
            </a:extLst>
          </p:cNvPr>
          <p:cNvPicPr/>
          <p:nvPr/>
        </p:nvPicPr>
        <p:blipFill rotWithShape="1">
          <a:blip r:embed="rId10"/>
          <a:srcRect r="10465"/>
          <a:stretch/>
        </p:blipFill>
        <p:spPr bwMode="auto">
          <a:xfrm>
            <a:off x="1106968" y="3343693"/>
            <a:ext cx="4545936" cy="29150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00ACBAFD-B8E9-4E33-A576-E34B6EDED548}"/>
              </a:ext>
            </a:extLst>
          </p:cNvPr>
          <p:cNvSpPr/>
          <p:nvPr/>
        </p:nvSpPr>
        <p:spPr>
          <a:xfrm>
            <a:off x="7806225" y="2342679"/>
            <a:ext cx="2389632" cy="654025"/>
          </a:xfrm>
          <a:prstGeom prst="roundRect">
            <a:avLst/>
          </a:prstGeom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982DB14A-4BE5-4DFD-A243-9E96434D4B4F}"/>
              </a:ext>
            </a:extLst>
          </p:cNvPr>
          <p:cNvSpPr/>
          <p:nvPr/>
        </p:nvSpPr>
        <p:spPr>
          <a:xfrm>
            <a:off x="7806225" y="3238054"/>
            <a:ext cx="2389632" cy="654025"/>
          </a:xfrm>
          <a:prstGeom prst="roundRect">
            <a:avLst/>
          </a:prstGeom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DEC4280C-B8BB-4E55-903F-493F9345A9B6}"/>
              </a:ext>
            </a:extLst>
          </p:cNvPr>
          <p:cNvSpPr/>
          <p:nvPr/>
        </p:nvSpPr>
        <p:spPr>
          <a:xfrm>
            <a:off x="7806225" y="4138509"/>
            <a:ext cx="2389632" cy="654025"/>
          </a:xfrm>
          <a:prstGeom prst="roundRect">
            <a:avLst/>
          </a:prstGeom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AA41AEF9-B4C4-4544-B51A-27A22F167966}"/>
              </a:ext>
            </a:extLst>
          </p:cNvPr>
          <p:cNvSpPr/>
          <p:nvPr/>
        </p:nvSpPr>
        <p:spPr>
          <a:xfrm>
            <a:off x="7806225" y="5038964"/>
            <a:ext cx="2389632" cy="654025"/>
          </a:xfrm>
          <a:prstGeom prst="roundRect">
            <a:avLst/>
          </a:prstGeom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Дуга 32">
            <a:extLst>
              <a:ext uri="{FF2B5EF4-FFF2-40B4-BE49-F238E27FC236}">
                <a16:creationId xmlns:a16="http://schemas.microsoft.com/office/drawing/2014/main" id="{AB0B4B01-9AFB-4B5E-9A3F-EAFC3380AF05}"/>
              </a:ext>
            </a:extLst>
          </p:cNvPr>
          <p:cNvSpPr/>
          <p:nvPr/>
        </p:nvSpPr>
        <p:spPr>
          <a:xfrm rot="13450780">
            <a:off x="6941616" y="2792067"/>
            <a:ext cx="1666622" cy="1701759"/>
          </a:xfrm>
          <a:prstGeom prst="arc">
            <a:avLst>
              <a:gd name="adj1" fmla="val 13412476"/>
              <a:gd name="adj2" fmla="val 2875824"/>
            </a:avLst>
          </a:prstGeom>
          <a:ln w="38100">
            <a:solidFill>
              <a:srgbClr val="2B4B8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Дуга 33">
            <a:extLst>
              <a:ext uri="{FF2B5EF4-FFF2-40B4-BE49-F238E27FC236}">
                <a16:creationId xmlns:a16="http://schemas.microsoft.com/office/drawing/2014/main" id="{E91302DD-9150-4EE6-918E-5E170EF6FF83}"/>
              </a:ext>
            </a:extLst>
          </p:cNvPr>
          <p:cNvSpPr/>
          <p:nvPr/>
        </p:nvSpPr>
        <p:spPr>
          <a:xfrm rot="2426400">
            <a:off x="9814609" y="2672369"/>
            <a:ext cx="852666" cy="870643"/>
          </a:xfrm>
          <a:prstGeom prst="arc">
            <a:avLst>
              <a:gd name="adj1" fmla="val 13412476"/>
              <a:gd name="adj2" fmla="val 3331090"/>
            </a:avLst>
          </a:prstGeom>
          <a:ln w="38100">
            <a:solidFill>
              <a:srgbClr val="2B4B8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66B008A9-43FB-4528-8EDE-61507AC477C2}"/>
              </a:ext>
            </a:extLst>
          </p:cNvPr>
          <p:cNvSpPr/>
          <p:nvPr/>
        </p:nvSpPr>
        <p:spPr>
          <a:xfrm>
            <a:off x="6711280" y="3363606"/>
            <a:ext cx="437549" cy="437549"/>
          </a:xfrm>
          <a:prstGeom prst="rect">
            <a:avLst/>
          </a:prstGeom>
          <a:solidFill>
            <a:srgbClr val="EFEFEF"/>
          </a:solidFill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id="{0FFD2FAB-E4D7-48C1-B2C1-87566C4E4075}"/>
              </a:ext>
            </a:extLst>
          </p:cNvPr>
          <p:cNvSpPr/>
          <p:nvPr/>
        </p:nvSpPr>
        <p:spPr>
          <a:xfrm>
            <a:off x="10400237" y="2911004"/>
            <a:ext cx="438175" cy="438175"/>
          </a:xfrm>
          <a:prstGeom prst="ellipse">
            <a:avLst/>
          </a:prstGeom>
          <a:solidFill>
            <a:srgbClr val="EFEFEF"/>
          </a:solidFill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BAB50205-FD38-41BA-B980-C4B89E735469}"/>
              </a:ext>
            </a:extLst>
          </p:cNvPr>
          <p:cNvSpPr/>
          <p:nvPr/>
        </p:nvSpPr>
        <p:spPr>
          <a:xfrm>
            <a:off x="10653988" y="5134767"/>
            <a:ext cx="438175" cy="438175"/>
          </a:xfrm>
          <a:prstGeom prst="ellipse">
            <a:avLst/>
          </a:prstGeom>
          <a:solidFill>
            <a:srgbClr val="EFEFEF"/>
          </a:solidFill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Знак умножения 37">
            <a:extLst>
              <a:ext uri="{FF2B5EF4-FFF2-40B4-BE49-F238E27FC236}">
                <a16:creationId xmlns:a16="http://schemas.microsoft.com/office/drawing/2014/main" id="{DB294E2C-C52B-4003-A32D-CB31EF68F271}"/>
              </a:ext>
            </a:extLst>
          </p:cNvPr>
          <p:cNvSpPr/>
          <p:nvPr/>
        </p:nvSpPr>
        <p:spPr>
          <a:xfrm>
            <a:off x="10414266" y="2925033"/>
            <a:ext cx="410116" cy="410116"/>
          </a:xfrm>
          <a:prstGeom prst="mathMultiply">
            <a:avLst>
              <a:gd name="adj1" fmla="val 11453"/>
            </a:avLst>
          </a:prstGeom>
          <a:solidFill>
            <a:srgbClr val="F0ABC1"/>
          </a:solidFill>
          <a:ln w="12700"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оловина рамки 38">
            <a:extLst>
              <a:ext uri="{FF2B5EF4-FFF2-40B4-BE49-F238E27FC236}">
                <a16:creationId xmlns:a16="http://schemas.microsoft.com/office/drawing/2014/main" id="{7E55EE00-F1F4-4DA8-92DE-EB27CA185930}"/>
              </a:ext>
            </a:extLst>
          </p:cNvPr>
          <p:cNvSpPr/>
          <p:nvPr/>
        </p:nvSpPr>
        <p:spPr>
          <a:xfrm rot="7933517" flipH="1">
            <a:off x="6767034" y="3430857"/>
            <a:ext cx="318456" cy="170808"/>
          </a:xfrm>
          <a:prstGeom prst="halfFrame">
            <a:avLst/>
          </a:prstGeom>
          <a:solidFill>
            <a:srgbClr val="94DDDE"/>
          </a:solidFill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F32D0058-1E88-490F-8E07-CB6EBED2B58B}"/>
              </a:ext>
            </a:extLst>
          </p:cNvPr>
          <p:cNvSpPr/>
          <p:nvPr/>
        </p:nvSpPr>
        <p:spPr>
          <a:xfrm>
            <a:off x="10844694" y="5287118"/>
            <a:ext cx="57796" cy="228600"/>
          </a:xfrm>
          <a:prstGeom prst="rect">
            <a:avLst/>
          </a:prstGeom>
          <a:solidFill>
            <a:srgbClr val="FEFEFE"/>
          </a:solidFill>
          <a:ln w="12700"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F8D2B088-6B46-47DF-B014-ADBD74269434}"/>
              </a:ext>
            </a:extLst>
          </p:cNvPr>
          <p:cNvSpPr/>
          <p:nvPr/>
        </p:nvSpPr>
        <p:spPr>
          <a:xfrm>
            <a:off x="10836245" y="5183752"/>
            <a:ext cx="71120" cy="71120"/>
          </a:xfrm>
          <a:prstGeom prst="ellipse">
            <a:avLst/>
          </a:prstGeom>
          <a:solidFill>
            <a:srgbClr val="FEFEFE"/>
          </a:solidFill>
          <a:ln w="12700"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FD577C-C9B8-4CF1-BC07-FB9BFA1E76B3}"/>
              </a:ext>
            </a:extLst>
          </p:cNvPr>
          <p:cNvSpPr txBox="1"/>
          <p:nvPr/>
        </p:nvSpPr>
        <p:spPr>
          <a:xfrm>
            <a:off x="7806225" y="2377303"/>
            <a:ext cx="2394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94DDDE"/>
                </a:solidFill>
                <a:latin typeface="Evolventa Bold"/>
              </a:rPr>
              <a:t>TRY</a:t>
            </a:r>
            <a:endParaRPr lang="ru-RU" sz="3200" dirty="0">
              <a:solidFill>
                <a:srgbClr val="94DDDE"/>
              </a:solidFill>
              <a:latin typeface="Evolventa Bold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4A4A80-5767-47E2-8842-7BB6F84710B3}"/>
              </a:ext>
            </a:extLst>
          </p:cNvPr>
          <p:cNvSpPr txBox="1"/>
          <p:nvPr/>
        </p:nvSpPr>
        <p:spPr>
          <a:xfrm>
            <a:off x="7793110" y="3284952"/>
            <a:ext cx="2394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7B4A7"/>
                </a:solidFill>
                <a:latin typeface="Evolventa Bold"/>
              </a:rPr>
              <a:t>EXCEPT</a:t>
            </a:r>
            <a:endParaRPr lang="ru-RU" sz="3200" dirty="0">
              <a:solidFill>
                <a:srgbClr val="F7B4A7"/>
              </a:solidFill>
              <a:latin typeface="Evolventa Bold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92B203-EB4A-46CE-A6B7-D185AC9D9F77}"/>
              </a:ext>
            </a:extLst>
          </p:cNvPr>
          <p:cNvSpPr txBox="1"/>
          <p:nvPr/>
        </p:nvSpPr>
        <p:spPr>
          <a:xfrm>
            <a:off x="7806225" y="4180695"/>
            <a:ext cx="2394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FEFEF"/>
                </a:solidFill>
                <a:latin typeface="Evolventa Bold"/>
              </a:rPr>
              <a:t>ELSE</a:t>
            </a:r>
            <a:endParaRPr lang="ru-RU" sz="3200" dirty="0">
              <a:solidFill>
                <a:srgbClr val="EFEFEF"/>
              </a:solidFill>
              <a:latin typeface="Evolventa Bold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972C63-4F57-4259-A74D-009E22042446}"/>
              </a:ext>
            </a:extLst>
          </p:cNvPr>
          <p:cNvSpPr txBox="1"/>
          <p:nvPr/>
        </p:nvSpPr>
        <p:spPr>
          <a:xfrm>
            <a:off x="7768369" y="5073587"/>
            <a:ext cx="2394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0ABC1"/>
                </a:solidFill>
                <a:latin typeface="Evolventa Bold"/>
              </a:rPr>
              <a:t>FINALLY</a:t>
            </a:r>
            <a:endParaRPr lang="ru-RU" sz="3200" dirty="0">
              <a:solidFill>
                <a:srgbClr val="F0ABC1"/>
              </a:solidFill>
              <a:latin typeface="Evolventa Bold"/>
            </a:endParaRPr>
          </a:p>
        </p:txBody>
      </p:sp>
      <p:sp>
        <p:nvSpPr>
          <p:cNvPr id="46" name="Дуга 45">
            <a:extLst>
              <a:ext uri="{FF2B5EF4-FFF2-40B4-BE49-F238E27FC236}">
                <a16:creationId xmlns:a16="http://schemas.microsoft.com/office/drawing/2014/main" id="{5022992A-72E4-4130-BA66-C725E15F6945}"/>
              </a:ext>
            </a:extLst>
          </p:cNvPr>
          <p:cNvSpPr/>
          <p:nvPr/>
        </p:nvSpPr>
        <p:spPr>
          <a:xfrm rot="13450780">
            <a:off x="6952784" y="3583214"/>
            <a:ext cx="1666622" cy="1701759"/>
          </a:xfrm>
          <a:prstGeom prst="arc">
            <a:avLst>
              <a:gd name="adj1" fmla="val 13412476"/>
              <a:gd name="adj2" fmla="val 2875824"/>
            </a:avLst>
          </a:prstGeom>
          <a:ln w="38100">
            <a:solidFill>
              <a:srgbClr val="2B4B8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Дуга 46">
            <a:extLst>
              <a:ext uri="{FF2B5EF4-FFF2-40B4-BE49-F238E27FC236}">
                <a16:creationId xmlns:a16="http://schemas.microsoft.com/office/drawing/2014/main" id="{7B42B77A-69F2-4B2B-ADE3-A536618F1214}"/>
              </a:ext>
            </a:extLst>
          </p:cNvPr>
          <p:cNvSpPr/>
          <p:nvPr/>
        </p:nvSpPr>
        <p:spPr>
          <a:xfrm rot="2426400">
            <a:off x="9814609" y="4529762"/>
            <a:ext cx="852666" cy="870643"/>
          </a:xfrm>
          <a:prstGeom prst="arc">
            <a:avLst>
              <a:gd name="adj1" fmla="val 13412476"/>
              <a:gd name="adj2" fmla="val 3331090"/>
            </a:avLst>
          </a:prstGeom>
          <a:ln w="38100">
            <a:solidFill>
              <a:srgbClr val="2B4B8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254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8A6CF90-A872-45F9-909E-406047CF1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19" y="3298384"/>
            <a:ext cx="2634331" cy="2634331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718724" y="1408299"/>
            <a:ext cx="6492842" cy="1974641"/>
            <a:chOff x="-2" y="215858"/>
            <a:chExt cx="8369238" cy="2669416"/>
          </a:xfrm>
        </p:grpSpPr>
        <p:sp>
          <p:nvSpPr>
            <p:cNvPr id="3" name="TextBox 3"/>
            <p:cNvSpPr txBox="1"/>
            <p:nvPr/>
          </p:nvSpPr>
          <p:spPr>
            <a:xfrm>
              <a:off x="-2" y="215858"/>
              <a:ext cx="8369238" cy="8841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51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267" b="1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/>
                  <a:ea typeface="Evolventa Bold"/>
                  <a:cs typeface="Evolventa Bold"/>
                  <a:sym typeface="Evolventa Bold"/>
                </a:rPr>
                <a:t>Блоки исключений: </a:t>
              </a:r>
              <a:r>
                <a:rPr lang="en-US" sz="4267" b="1" dirty="0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RAISE</a:t>
              </a:r>
              <a:endParaRPr kumimoji="0" lang="en-US" sz="4267" b="1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2" y="1146806"/>
              <a:ext cx="7866347" cy="17384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02275" lvl="1" indent="-151138" defTabSz="609630">
                <a:lnSpc>
                  <a:spcPts val="1960"/>
                </a:lnSpc>
                <a:buFont typeface="Arial"/>
                <a:buChar char="•"/>
              </a:pPr>
              <a:r>
                <a:rPr lang="ru-RU" sz="20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Команда </a:t>
              </a:r>
              <a:r>
                <a:rPr lang="ru-RU" sz="2000" b="1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raise</a:t>
              </a:r>
              <a:r>
                <a:rPr lang="ru-RU" sz="20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 в </a:t>
              </a:r>
              <a:r>
                <a:rPr lang="ru-RU" sz="2000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Python</a:t>
              </a:r>
              <a:r>
                <a:rPr lang="ru-RU" sz="2000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 используется для принудительного вызова исключения. Это может быть полезно, если мы столкнулись с условием, которое должно остановить выполнение программы или вызвать ошибку.</a:t>
              </a:r>
              <a:endPara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-642274"/>
            <a:ext cx="3064959" cy="1894702"/>
          </a:xfrm>
          <a:custGeom>
            <a:avLst/>
            <a:gdLst/>
            <a:ahLst/>
            <a:cxnLst/>
            <a:rect l="l" t="t" r="r" b="b"/>
            <a:pathLst>
              <a:path w="4597438" h="2842053">
                <a:moveTo>
                  <a:pt x="0" y="0"/>
                </a:moveTo>
                <a:lnTo>
                  <a:pt x="4597438" y="0"/>
                </a:lnTo>
                <a:lnTo>
                  <a:pt x="4597438" y="2842052"/>
                </a:lnTo>
                <a:lnTo>
                  <a:pt x="0" y="28420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7034558" y="260398"/>
            <a:ext cx="1384445" cy="850805"/>
          </a:xfrm>
          <a:custGeom>
            <a:avLst/>
            <a:gdLst/>
            <a:ahLst/>
            <a:cxnLst/>
            <a:rect l="l" t="t" r="r" b="b"/>
            <a:pathLst>
              <a:path w="2076668" h="1276207">
                <a:moveTo>
                  <a:pt x="2076668" y="0"/>
                </a:moveTo>
                <a:lnTo>
                  <a:pt x="0" y="0"/>
                </a:lnTo>
                <a:lnTo>
                  <a:pt x="0" y="1276208"/>
                </a:lnTo>
                <a:lnTo>
                  <a:pt x="2076668" y="1276208"/>
                </a:lnTo>
                <a:lnTo>
                  <a:pt x="207666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759121" y="-1631997"/>
            <a:ext cx="2558657" cy="2743200"/>
          </a:xfrm>
          <a:custGeom>
            <a:avLst/>
            <a:gdLst/>
            <a:ahLst/>
            <a:cxnLst/>
            <a:rect l="l" t="t" r="r" b="b"/>
            <a:pathLst>
              <a:path w="3837986" h="4114800">
                <a:moveTo>
                  <a:pt x="0" y="0"/>
                </a:moveTo>
                <a:lnTo>
                  <a:pt x="3837987" y="0"/>
                </a:lnTo>
                <a:lnTo>
                  <a:pt x="38379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329498" y="-2506136"/>
            <a:ext cx="3571835" cy="3727722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0" y="0"/>
                </a:moveTo>
                <a:lnTo>
                  <a:pt x="5357752" y="0"/>
                </a:lnTo>
                <a:lnTo>
                  <a:pt x="5357752" y="5591583"/>
                </a:lnTo>
                <a:lnTo>
                  <a:pt x="0" y="55915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E53EC47C-0FB8-427B-A7F4-634EBDDDAFEF}"/>
              </a:ext>
            </a:extLst>
          </p:cNvPr>
          <p:cNvSpPr/>
          <p:nvPr/>
        </p:nvSpPr>
        <p:spPr>
          <a:xfrm>
            <a:off x="1033926" y="5737527"/>
            <a:ext cx="2389632" cy="654025"/>
          </a:xfrm>
          <a:prstGeom prst="roundRect">
            <a:avLst/>
          </a:prstGeom>
          <a:ln>
            <a:solidFill>
              <a:srgbClr val="2B4B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D2D1D6-D8DE-40ED-83FD-66FA950B2614}"/>
              </a:ext>
            </a:extLst>
          </p:cNvPr>
          <p:cNvSpPr txBox="1"/>
          <p:nvPr/>
        </p:nvSpPr>
        <p:spPr>
          <a:xfrm>
            <a:off x="996070" y="5772150"/>
            <a:ext cx="2394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Evolventa Bold"/>
              </a:rPr>
              <a:t>RAISE</a:t>
            </a:r>
            <a:endParaRPr lang="ru-RU" sz="3200" dirty="0">
              <a:solidFill>
                <a:schemeClr val="accent2">
                  <a:lumMod val="75000"/>
                </a:schemeClr>
              </a:solidFill>
              <a:latin typeface="Evolventa Bold"/>
            </a:endParaRP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90D238E6-D480-4CEE-88DE-430B487B52AC}"/>
              </a:ext>
            </a:extLst>
          </p:cNvPr>
          <p:cNvPicPr/>
          <p:nvPr/>
        </p:nvPicPr>
        <p:blipFill>
          <a:blip r:embed="rId11"/>
          <a:stretch>
            <a:fillRect/>
          </a:stretch>
        </p:blipFill>
        <p:spPr>
          <a:xfrm>
            <a:off x="5809470" y="3643947"/>
            <a:ext cx="5219065" cy="164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435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070A792-798E-4321-8929-FAABCA5BA2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4796"/>
          <a:stretch/>
        </p:blipFill>
        <p:spPr>
          <a:xfrm>
            <a:off x="1" y="0"/>
            <a:ext cx="5702078" cy="6858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5822950" y="727212"/>
            <a:ext cx="6006084" cy="5615127"/>
            <a:chOff x="0" y="-134620"/>
            <a:chExt cx="12266115" cy="11230254"/>
          </a:xfrm>
        </p:grpSpPr>
        <p:sp>
          <p:nvSpPr>
            <p:cNvPr id="4" name="TextBox 4"/>
            <p:cNvSpPr txBox="1"/>
            <p:nvPr/>
          </p:nvSpPr>
          <p:spPr>
            <a:xfrm>
              <a:off x="49799" y="-134620"/>
              <a:ext cx="12216316" cy="36933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48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sz="4400" b="1" dirty="0">
                  <a:solidFill>
                    <a:srgbClr val="2B4B82"/>
                  </a:solidFill>
                  <a:latin typeface="Evolventa Bold"/>
                  <a:ea typeface="Evolventa Bold"/>
                  <a:cs typeface="Evolventa Bold"/>
                  <a:sym typeface="Evolventa Bold"/>
                </a:rPr>
                <a:t>ОБРАБОТКА МНОЖЕСТВЕННЫХ ИСКЛЮЧЕНИЙ</a:t>
              </a:r>
              <a:endPara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58698"/>
              <a:ext cx="12216316" cy="75369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just" defTabSz="609630"/>
              <a:r>
                <a:rPr lang="ru-RU" sz="1749" spc="276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С помощью блоков </a:t>
              </a:r>
              <a:r>
                <a:rPr lang="ru-RU" sz="1749" b="1" spc="276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except</a:t>
              </a:r>
              <a:r>
                <a:rPr lang="ru-RU" sz="1749" spc="276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 можно обрабатывать несколько исключений разными способами. Каждый </a:t>
              </a:r>
              <a:r>
                <a:rPr lang="ru-RU" sz="1749" b="1" spc="276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except</a:t>
              </a:r>
              <a:r>
                <a:rPr lang="ru-RU" sz="1749" spc="276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 соответствует определённому типу ошибки.</a:t>
              </a:r>
            </a:p>
            <a:p>
              <a:pPr lvl="0" algn="just" defTabSz="609630"/>
              <a:r>
                <a:rPr lang="ru-RU" sz="1749" spc="276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Например, если в блоке </a:t>
              </a:r>
              <a:r>
                <a:rPr lang="ru-RU" sz="1749" b="1" spc="276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try</a:t>
              </a:r>
              <a:r>
                <a:rPr lang="ru-RU" sz="1749" spc="276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 происходит исключение </a:t>
              </a:r>
              <a:r>
                <a:rPr lang="ru-RU" sz="1749" b="1" spc="276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TypeError</a:t>
              </a:r>
              <a:r>
                <a:rPr lang="ru-RU" sz="1749" spc="276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, будет выполнен первый блок </a:t>
              </a:r>
              <a:r>
                <a:rPr lang="ru-RU" sz="1749" b="1" spc="276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except</a:t>
              </a:r>
              <a:r>
                <a:rPr lang="ru-RU" sz="1749" spc="276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, и аналогично для </a:t>
              </a:r>
              <a:r>
                <a:rPr lang="ru-RU" sz="1749" b="1" spc="276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ZeroDivisionError</a:t>
              </a:r>
              <a:r>
                <a:rPr lang="ru-RU" sz="1749" b="1" spc="276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.</a:t>
              </a:r>
            </a:p>
            <a:p>
              <a:pPr lvl="0" algn="just" defTabSz="609630"/>
              <a:endParaRPr lang="ru-RU" sz="1749" b="1" spc="276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endParaRPr>
            </a:p>
            <a:p>
              <a:pPr lvl="0" algn="just" defTabSz="609630"/>
              <a:r>
                <a:rPr lang="ru-RU" sz="1749" spc="276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Иногда возникает необходимость обрабатывать несколько типов исключений одинаковым образом. В этом случае можно перечислить эти исключения в одном блоке </a:t>
              </a:r>
              <a:r>
                <a:rPr lang="ru-RU" sz="1749" b="1" spc="276" dirty="0" err="1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except</a:t>
              </a:r>
              <a:r>
                <a:rPr lang="ru-RU" sz="1749" spc="276" dirty="0">
                  <a:solidFill>
                    <a:srgbClr val="2B4B82"/>
                  </a:solidFill>
                  <a:latin typeface="Evolventa"/>
                  <a:ea typeface="Evolventa"/>
                  <a:cs typeface="Evolventa"/>
                  <a:sym typeface="Evolventa"/>
                </a:rPr>
                <a:t>, разделив их запятыми:</a:t>
              </a:r>
            </a:p>
          </p:txBody>
        </p: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67A9B1-5602-4EFF-898F-176B66386D0D}"/>
              </a:ext>
            </a:extLst>
          </p:cNvPr>
          <p:cNvPicPr/>
          <p:nvPr/>
        </p:nvPicPr>
        <p:blipFill rotWithShape="1">
          <a:blip r:embed="rId4"/>
          <a:srcRect r="10208"/>
          <a:stretch/>
        </p:blipFill>
        <p:spPr>
          <a:xfrm>
            <a:off x="-1" y="2537339"/>
            <a:ext cx="5702079" cy="214438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11F7891-AE34-41C4-B89F-95523420209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0" y="5132959"/>
            <a:ext cx="5705856" cy="11064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630773" y="1317628"/>
            <a:ext cx="6257707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marR="0" lvl="0" indent="-285750" algn="just" defTabSz="60963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rPr>
              <a:t>Если нужен свой собственный обработчик – пишутся пользовательские исключения</a:t>
            </a:r>
          </a:p>
          <a:p>
            <a:pPr marL="285750" marR="0" lvl="0" indent="-285750" algn="just" defTabSz="60963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2B4B82"/>
              </a:solidFill>
              <a:effectLst/>
              <a:uLnTx/>
              <a:uFillTx/>
              <a:latin typeface="Evolventa"/>
              <a:ea typeface="Evolventa"/>
              <a:cs typeface="Evolventa"/>
              <a:sym typeface="Evolventa"/>
            </a:endParaRPr>
          </a:p>
          <a:p>
            <a:pPr marL="285750" lvl="0" indent="-285750" algn="just" defTabSz="60963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Для создания собственного исключения достаточно определить новый класс, который наследуется от базового класса </a:t>
            </a:r>
            <a:r>
              <a:rPr lang="ru-RU" sz="2400" dirty="0" err="1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Exception</a:t>
            </a:r>
            <a:r>
              <a:rPr lang="ru-RU" sz="2400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 или от любого другого встроенного исключения</a:t>
            </a:r>
          </a:p>
          <a:p>
            <a:pPr marL="285750" lvl="0" indent="-285750" algn="just" defTabSz="609630">
              <a:buFont typeface="Arial" panose="020B0604020202020204" pitchFamily="34" charset="0"/>
              <a:buChar char="•"/>
            </a:pPr>
            <a:endParaRPr lang="ru-RU" sz="2400" dirty="0">
              <a:solidFill>
                <a:srgbClr val="2B4B82"/>
              </a:solidFill>
              <a:latin typeface="Evolventa"/>
              <a:ea typeface="Evolventa"/>
              <a:cs typeface="Evolventa"/>
              <a:sym typeface="Evolventa"/>
            </a:endParaRPr>
          </a:p>
          <a:p>
            <a:pPr marL="285750" lvl="0" indent="-285750" algn="just" defTabSz="60963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Применяется как исключения «из коробки»</a:t>
            </a:r>
          </a:p>
        </p:txBody>
      </p:sp>
      <p:sp>
        <p:nvSpPr>
          <p:cNvPr id="5" name="Freeform 5"/>
          <p:cNvSpPr/>
          <p:nvPr/>
        </p:nvSpPr>
        <p:spPr>
          <a:xfrm>
            <a:off x="9994641" y="-292100"/>
            <a:ext cx="2197359" cy="2837180"/>
          </a:xfrm>
          <a:custGeom>
            <a:avLst/>
            <a:gdLst/>
            <a:ahLst/>
            <a:cxnLst/>
            <a:rect l="l" t="t" r="r" b="b"/>
            <a:pathLst>
              <a:path w="6414740" h="6631780">
                <a:moveTo>
                  <a:pt x="0" y="0"/>
                </a:moveTo>
                <a:lnTo>
                  <a:pt x="6414740" y="0"/>
                </a:lnTo>
                <a:lnTo>
                  <a:pt x="6414740" y="6631780"/>
                </a:lnTo>
                <a:lnTo>
                  <a:pt x="0" y="6631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3774" r="-42094" b="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30773" y="483051"/>
            <a:ext cx="8608477" cy="39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defTabSz="609630">
              <a:lnSpc>
                <a:spcPts val="2932"/>
              </a:lnSpc>
            </a:pPr>
            <a:r>
              <a:rPr lang="ru-RU" sz="3450" b="1" spc="-34" dirty="0">
                <a:solidFill>
                  <a:srgbClr val="2B4B82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Пользовательские исключения</a:t>
            </a:r>
            <a:endParaRPr kumimoji="0" lang="en-US" sz="3450" b="1" i="0" u="none" strike="noStrike" kern="1200" cap="none" spc="-34" normalizeH="0" baseline="0" noProof="0" dirty="0">
              <a:ln>
                <a:noFill/>
              </a:ln>
              <a:solidFill>
                <a:srgbClr val="2B4B82"/>
              </a:solidFill>
              <a:effectLst/>
              <a:uLnTx/>
              <a:uFillTx/>
              <a:latin typeface="Evolventa Bold"/>
              <a:ea typeface="Evolventa Bold"/>
              <a:cs typeface="Evolventa Bold"/>
              <a:sym typeface="Evolventa Bold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E612816-EF16-40DA-AC1F-B36B59DDF9C7}"/>
              </a:ext>
            </a:extLst>
          </p:cNvPr>
          <p:cNvPicPr/>
          <p:nvPr/>
        </p:nvPicPr>
        <p:blipFill rotWithShape="1">
          <a:blip r:embed="rId4"/>
          <a:srcRect r="41149"/>
          <a:stretch/>
        </p:blipFill>
        <p:spPr>
          <a:xfrm>
            <a:off x="7169695" y="2610289"/>
            <a:ext cx="4829493" cy="73159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1FAAD0-A965-4E09-8B34-8EDC3BC6C09E}"/>
              </a:ext>
            </a:extLst>
          </p:cNvPr>
          <p:cNvPicPr/>
          <p:nvPr/>
        </p:nvPicPr>
        <p:blipFill rotWithShape="1">
          <a:blip r:embed="rId5"/>
          <a:srcRect r="22421"/>
          <a:stretch/>
        </p:blipFill>
        <p:spPr>
          <a:xfrm>
            <a:off x="7169695" y="4359272"/>
            <a:ext cx="4608513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34509" y="738336"/>
            <a:ext cx="2326499" cy="1907729"/>
          </a:xfrm>
          <a:custGeom>
            <a:avLst/>
            <a:gdLst/>
            <a:ahLst/>
            <a:cxnLst/>
            <a:rect l="l" t="t" r="r" b="b"/>
            <a:pathLst>
              <a:path w="3489749" h="2861594">
                <a:moveTo>
                  <a:pt x="0" y="0"/>
                </a:moveTo>
                <a:lnTo>
                  <a:pt x="3489749" y="0"/>
                </a:lnTo>
                <a:lnTo>
                  <a:pt x="3489749" y="2861593"/>
                </a:lnTo>
                <a:lnTo>
                  <a:pt x="0" y="286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93862" y="2894985"/>
            <a:ext cx="3079102" cy="2743200"/>
          </a:xfrm>
          <a:custGeom>
            <a:avLst/>
            <a:gdLst/>
            <a:ahLst/>
            <a:cxnLst/>
            <a:rect l="l" t="t" r="r" b="b"/>
            <a:pathLst>
              <a:path w="4618653" h="4114800">
                <a:moveTo>
                  <a:pt x="0" y="0"/>
                </a:moveTo>
                <a:lnTo>
                  <a:pt x="4618653" y="0"/>
                </a:lnTo>
                <a:lnTo>
                  <a:pt x="4618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406155" y="1238847"/>
            <a:ext cx="6190482" cy="397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rPr>
              <a:t>Следующие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rPr>
              <a:t>шаги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rPr>
              <a:t>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rPr>
              <a:t>нашего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rPr>
              <a:t>обучения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2B4B82"/>
              </a:solidFill>
              <a:effectLst/>
              <a:uLnTx/>
              <a:uFillTx/>
              <a:latin typeface="Evolventa Bold"/>
              <a:ea typeface="Evolventa Bold"/>
              <a:cs typeface="Evolventa Bold"/>
              <a:sym typeface="Evolventa Bold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753BBBC9-600B-4293-BFA1-0F6AB454485A}"/>
              </a:ext>
            </a:extLst>
          </p:cNvPr>
          <p:cNvSpPr txBox="1"/>
          <p:nvPr/>
        </p:nvSpPr>
        <p:spPr>
          <a:xfrm>
            <a:off x="5315718" y="2495505"/>
            <a:ext cx="6190482" cy="190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5041" marR="0" lvl="1" indent="-192520" algn="l" defTabSz="609630" rtl="0" eaLnBrk="1" fontAlgn="auto" latinLnBrk="0" hangingPunct="1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783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rPr>
              <a:t>Параллельное программирование</a:t>
            </a:r>
            <a:endParaRPr kumimoji="0" lang="en-US" sz="1783" b="0" i="0" u="none" strike="noStrike" kern="1200" cap="none" spc="0" normalizeH="0" baseline="0" noProof="0" dirty="0">
              <a:ln>
                <a:noFill/>
              </a:ln>
              <a:solidFill>
                <a:srgbClr val="2B4B82"/>
              </a:solidFill>
              <a:effectLst/>
              <a:uLnTx/>
              <a:uFillTx/>
              <a:latin typeface="Evolventa"/>
              <a:ea typeface="Evolventa"/>
              <a:cs typeface="Evolventa"/>
              <a:sym typeface="Evolventa"/>
            </a:endParaRPr>
          </a:p>
          <a:p>
            <a:pPr marL="385041" marR="0" lvl="1" indent="-192520" algn="l" defTabSz="609630" rtl="0" eaLnBrk="1" fontAlgn="auto" latinLnBrk="0" hangingPunct="1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783" b="0" i="0" u="none" strike="noStrike" kern="1200" cap="none" spc="0" normalizeH="0" baseline="0" noProof="0" dirty="0">
              <a:ln>
                <a:noFill/>
              </a:ln>
              <a:solidFill>
                <a:srgbClr val="2B4B82"/>
              </a:solidFill>
              <a:effectLst/>
              <a:uLnTx/>
              <a:uFillTx/>
              <a:latin typeface="Evolventa"/>
              <a:ea typeface="Evolventa"/>
              <a:cs typeface="Evolventa"/>
              <a:sym typeface="Evolventa"/>
            </a:endParaRPr>
          </a:p>
          <a:p>
            <a:pPr marL="385041" marR="0" lvl="1" indent="-192520" algn="l" defTabSz="609630" rtl="0" eaLnBrk="1" fontAlgn="auto" latinLnBrk="0" hangingPunct="1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ru-RU" sz="1783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rPr>
              <a:t>Паттерны проектирования</a:t>
            </a:r>
          </a:p>
          <a:p>
            <a:pPr marL="385041" marR="0" lvl="1" indent="-192520" algn="l" defTabSz="609630" rtl="0" eaLnBrk="1" fontAlgn="auto" latinLnBrk="0" hangingPunct="1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ru-RU" sz="1783" dirty="0">
              <a:solidFill>
                <a:srgbClr val="2B4B82"/>
              </a:solidFill>
              <a:latin typeface="Evolventa"/>
              <a:ea typeface="Evolventa"/>
              <a:cs typeface="Evolventa"/>
              <a:sym typeface="Evolventa"/>
            </a:endParaRPr>
          </a:p>
          <a:p>
            <a:pPr marL="385041" marR="0" lvl="1" indent="-192520" algn="l" defTabSz="609630" rtl="0" eaLnBrk="1" fontAlgn="auto" latinLnBrk="0" hangingPunct="1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ru-RU" sz="1783" dirty="0">
                <a:solidFill>
                  <a:srgbClr val="2B4B82"/>
                </a:solidFill>
                <a:latin typeface="Evolventa"/>
                <a:ea typeface="Evolventa"/>
                <a:cs typeface="Evolventa"/>
                <a:sym typeface="Evolventa"/>
              </a:rPr>
              <a:t>Тестирование</a:t>
            </a:r>
            <a:endParaRPr kumimoji="0" lang="ru-RU" sz="1783" b="0" i="0" u="none" strike="noStrike" kern="1200" cap="none" spc="0" normalizeH="0" baseline="0" noProof="0" dirty="0">
              <a:ln>
                <a:noFill/>
              </a:ln>
              <a:solidFill>
                <a:srgbClr val="2B4B82"/>
              </a:solidFill>
              <a:effectLst/>
              <a:uLnTx/>
              <a:uFillTx/>
              <a:latin typeface="Evolventa"/>
              <a:ea typeface="Evolventa"/>
              <a:cs typeface="Evolventa"/>
              <a:sym typeface="Evolventa"/>
            </a:endParaRPr>
          </a:p>
          <a:p>
            <a:pPr marL="385041" marR="0" lvl="1" indent="-192520" algn="l" defTabSz="609630" rtl="0" eaLnBrk="1" fontAlgn="auto" latinLnBrk="0" hangingPunct="1">
              <a:lnSpc>
                <a:spcPts val="249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783" b="0" i="0" u="none" strike="noStrike" kern="1200" cap="none" spc="0" normalizeH="0" baseline="0" noProof="0" dirty="0">
              <a:ln>
                <a:noFill/>
              </a:ln>
              <a:solidFill>
                <a:srgbClr val="2B4B82"/>
              </a:solidFill>
              <a:effectLst/>
              <a:uLnTx/>
              <a:uFillTx/>
              <a:latin typeface="Evolventa"/>
              <a:ea typeface="Evolventa"/>
              <a:cs typeface="Evolventa"/>
              <a:sym typeface="Evolvent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7200" y="1651000"/>
            <a:ext cx="7692730" cy="2551285"/>
            <a:chOff x="-190924" y="1833498"/>
            <a:chExt cx="14455982" cy="5102570"/>
          </a:xfrm>
        </p:grpSpPr>
        <p:sp>
          <p:nvSpPr>
            <p:cNvPr id="3" name="TextBox 3"/>
            <p:cNvSpPr txBox="1"/>
            <p:nvPr/>
          </p:nvSpPr>
          <p:spPr>
            <a:xfrm>
              <a:off x="160651" y="1833498"/>
              <a:ext cx="14104407" cy="44114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defTabSz="609630">
                <a:lnSpc>
                  <a:spcPts val="4320"/>
                </a:lnSpc>
                <a:defRPr/>
              </a:pP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7B4A7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«</a:t>
              </a:r>
              <a:r>
                <a:rPr lang="ru-RU" sz="3600" dirty="0">
                  <a:solidFill>
                    <a:srgbClr val="F7B4A7"/>
                  </a:solidFill>
                  <a:latin typeface="Evolventa"/>
                  <a:ea typeface="Evolventa"/>
                  <a:cs typeface="Evolventa"/>
                  <a:sym typeface="Evolventa"/>
                </a:rPr>
                <a:t>Информация в чистом виде ‒ это не знание. Настоящий источник знания ‒ это опыт.»</a:t>
              </a:r>
            </a:p>
            <a:p>
              <a:pPr marL="0" marR="0" lvl="0" indent="0" algn="l" defTabSz="609630" rtl="0" eaLnBrk="1" fontAlgn="auto" latinLnBrk="0" hangingPunct="1">
                <a:lnSpc>
                  <a:spcPts val="43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7B4A7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190924" y="6326926"/>
              <a:ext cx="14104407" cy="6091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r" defTabSz="609630" rtl="0" eaLnBrk="1" fontAlgn="auto" latinLnBrk="0" hangingPunct="1">
                <a:lnSpc>
                  <a:spcPts val="261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67" b="0" i="0" u="none" strike="noStrike" kern="1200" cap="none" spc="373" normalizeH="0" baseline="0" noProof="0" dirty="0">
                  <a:ln>
                    <a:noFill/>
                  </a:ln>
                  <a:solidFill>
                    <a:srgbClr val="F7B4A7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АЛЬБЕРТ ЭЙНШТЕЙН</a:t>
              </a:r>
              <a:endParaRPr kumimoji="0" lang="en-US" sz="1867" b="0" i="0" u="none" strike="noStrike" kern="1200" cap="none" spc="373" normalizeH="0" baseline="0" noProof="0" dirty="0">
                <a:ln>
                  <a:noFill/>
                </a:ln>
                <a:solidFill>
                  <a:srgbClr val="F7B4A7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8667882" y="1140651"/>
            <a:ext cx="2441750" cy="3761799"/>
          </a:xfrm>
          <a:custGeom>
            <a:avLst/>
            <a:gdLst/>
            <a:ahLst/>
            <a:cxnLst/>
            <a:rect l="l" t="t" r="r" b="b"/>
            <a:pathLst>
              <a:path w="3662625" h="5642699">
                <a:moveTo>
                  <a:pt x="0" y="0"/>
                </a:moveTo>
                <a:lnTo>
                  <a:pt x="3662625" y="0"/>
                </a:lnTo>
                <a:lnTo>
                  <a:pt x="3662625" y="5642699"/>
                </a:lnTo>
                <a:lnTo>
                  <a:pt x="0" y="5642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3439" y="533400"/>
            <a:ext cx="4875145" cy="2421691"/>
            <a:chOff x="0" y="315934"/>
            <a:chExt cx="9750289" cy="4843383"/>
          </a:xfrm>
        </p:grpSpPr>
        <p:sp>
          <p:nvSpPr>
            <p:cNvPr id="3" name="TextBox 3"/>
            <p:cNvSpPr txBox="1"/>
            <p:nvPr/>
          </p:nvSpPr>
          <p:spPr>
            <a:xfrm>
              <a:off x="0" y="315934"/>
              <a:ext cx="9750289" cy="18979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374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984" b="0" i="0" u="none" strike="noStrike" kern="1200" cap="none" spc="-43" normalizeH="0" baseline="0" noProof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У вас есть какие-то</a:t>
              </a:r>
            </a:p>
            <a:p>
              <a:pPr marL="0" marR="0" lvl="0" indent="0" algn="l" defTabSz="609630" rtl="0" eaLnBrk="1" fontAlgn="auto" latinLnBrk="0" hangingPunct="1">
                <a:lnSpc>
                  <a:spcPts val="374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984" b="0" i="0" u="none" strike="noStrike" kern="1200" cap="none" spc="-43" normalizeH="0" baseline="0" noProof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вопросы?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785735"/>
              <a:ext cx="9750289" cy="13735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О</a:t>
              </a: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с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тавьте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их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себе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! </a:t>
              </a: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Н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аде</a:t>
              </a: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ю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с</a:t>
              </a:r>
              <a:r>
                <a: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ь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, 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что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вы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узнали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что-то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 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новое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.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6569425" y="2012182"/>
            <a:ext cx="4940883" cy="3090298"/>
          </a:xfrm>
          <a:custGeom>
            <a:avLst/>
            <a:gdLst/>
            <a:ahLst/>
            <a:cxnLst/>
            <a:rect l="l" t="t" r="r" b="b"/>
            <a:pathLst>
              <a:path w="7411325" h="4635447">
                <a:moveTo>
                  <a:pt x="0" y="0"/>
                </a:moveTo>
                <a:lnTo>
                  <a:pt x="7411325" y="0"/>
                </a:lnTo>
                <a:lnTo>
                  <a:pt x="7411325" y="4635447"/>
                </a:lnTo>
                <a:lnTo>
                  <a:pt x="0" y="4635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776733" y="5742424"/>
            <a:ext cx="2892480" cy="1809115"/>
          </a:xfrm>
          <a:custGeom>
            <a:avLst/>
            <a:gdLst/>
            <a:ahLst/>
            <a:cxnLst/>
            <a:rect l="l" t="t" r="r" b="b"/>
            <a:pathLst>
              <a:path w="4338720" h="2713672">
                <a:moveTo>
                  <a:pt x="0" y="0"/>
                </a:moveTo>
                <a:lnTo>
                  <a:pt x="4338720" y="0"/>
                </a:lnTo>
                <a:lnTo>
                  <a:pt x="4338720" y="2713671"/>
                </a:lnTo>
                <a:lnTo>
                  <a:pt x="0" y="2713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317343" y="4988998"/>
            <a:ext cx="2192965" cy="1371600"/>
          </a:xfrm>
          <a:custGeom>
            <a:avLst/>
            <a:gdLst/>
            <a:ahLst/>
            <a:cxnLst/>
            <a:rect l="l" t="t" r="r" b="b"/>
            <a:pathLst>
              <a:path w="3289448" h="2057400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880232" y="474781"/>
            <a:ext cx="2192965" cy="1371600"/>
          </a:xfrm>
          <a:custGeom>
            <a:avLst/>
            <a:gdLst/>
            <a:ahLst/>
            <a:cxnLst/>
            <a:rect l="l" t="t" r="r" b="b"/>
            <a:pathLst>
              <a:path w="3289448" h="2057400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75DFE013-0943-4CA6-95D9-E4A412288DDB}"/>
              </a:ext>
            </a:extLst>
          </p:cNvPr>
          <p:cNvGrpSpPr/>
          <p:nvPr/>
        </p:nvGrpSpPr>
        <p:grpSpPr>
          <a:xfrm>
            <a:off x="1017238" y="3429000"/>
            <a:ext cx="4316762" cy="2864793"/>
            <a:chOff x="0" y="-38100"/>
            <a:chExt cx="7316890" cy="6791508"/>
          </a:xfrm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3A5AB1E-9328-4EBF-B112-B1724A09370B}"/>
                </a:ext>
              </a:extLst>
            </p:cNvPr>
            <p:cNvSpPr txBox="1"/>
            <p:nvPr/>
          </p:nvSpPr>
          <p:spPr>
            <a:xfrm>
              <a:off x="0" y="800687"/>
              <a:ext cx="7316890" cy="5089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406440" rtl="0" eaLnBrk="1" fontAlgn="auto" latinLnBrk="0" hangingPunct="1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22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+</a:t>
              </a:r>
              <a:r>
                <a:rPr kumimoji="0" lang="ru-RU" sz="1422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3</a:t>
              </a:r>
              <a:r>
                <a:rPr kumimoji="0" lang="en-US" sz="1422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7</a:t>
              </a:r>
              <a:r>
                <a:rPr kumimoji="0" lang="ru-RU" sz="1422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5</a:t>
              </a:r>
              <a:r>
                <a:rPr kumimoji="0" lang="en-US" sz="1422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 (33) </a:t>
              </a:r>
              <a:r>
                <a:rPr kumimoji="0" lang="ru-RU" sz="1422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398</a:t>
              </a:r>
              <a:r>
                <a:rPr kumimoji="0" lang="en-US" sz="1422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-</a:t>
              </a:r>
              <a:r>
                <a:rPr kumimoji="0" lang="ru-RU" sz="1422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54</a:t>
              </a:r>
              <a:r>
                <a:rPr kumimoji="0" lang="en-US" sz="1422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-</a:t>
              </a:r>
              <a:r>
                <a:rPr kumimoji="0" lang="ru-RU" sz="1422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37</a:t>
              </a:r>
              <a:endParaRPr kumimoji="0" lang="en-US" sz="1422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" panose="020B0604020202020204" charset="0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555ADB6D-5E82-4DA1-8387-2F67405F421A}"/>
                </a:ext>
              </a:extLst>
            </p:cNvPr>
            <p:cNvSpPr txBox="1"/>
            <p:nvPr/>
          </p:nvSpPr>
          <p:spPr>
            <a:xfrm>
              <a:off x="0" y="-38100"/>
              <a:ext cx="7316890" cy="479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406440" rtl="0" eaLnBrk="1" fontAlgn="auto" latinLnBrk="0" hangingPunct="1">
                <a:lnSpc>
                  <a:spcPts val="173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333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 panose="020B0604020202020204" charset="0"/>
                  <a:ea typeface="HK Grotesk Bold"/>
                  <a:cs typeface="HK Grotesk Bold"/>
                  <a:sym typeface="HK Grotesk Bold"/>
                </a:rPr>
                <a:t>Позвоните</a:t>
              </a: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 panose="020B0604020202020204" charset="0"/>
                  <a:ea typeface="HK Grotesk Bold"/>
                  <a:cs typeface="HK Grotesk Bold"/>
                  <a:sym typeface="HK Grotesk Bold"/>
                </a:rPr>
                <a:t> м</a:t>
              </a:r>
              <a:r>
                <a:rPr kumimoji="0" lang="ru-RU" sz="1333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 panose="020B0604020202020204" charset="0"/>
                  <a:ea typeface="HK Grotesk Bold"/>
                  <a:cs typeface="HK Grotesk Bold"/>
                  <a:sym typeface="HK Grotesk Bold"/>
                </a:rPr>
                <a:t>не</a:t>
              </a:r>
              <a:endPara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 panose="020B0604020202020204" charset="0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51BBBF8A-4A1C-4CFC-8817-24EB5890AC64}"/>
                </a:ext>
              </a:extLst>
            </p:cNvPr>
            <p:cNvSpPr txBox="1"/>
            <p:nvPr/>
          </p:nvSpPr>
          <p:spPr>
            <a:xfrm>
              <a:off x="0" y="3522586"/>
              <a:ext cx="7316890" cy="5089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406440" rtl="0" eaLnBrk="1" fontAlgn="auto" latinLnBrk="0" hangingPunct="1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22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kordebalet67@gmail.com</a:t>
              </a: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F338A2F7-D523-491A-9FCB-0EC3658FAD89}"/>
                </a:ext>
              </a:extLst>
            </p:cNvPr>
            <p:cNvSpPr txBox="1"/>
            <p:nvPr/>
          </p:nvSpPr>
          <p:spPr>
            <a:xfrm>
              <a:off x="0" y="2683799"/>
              <a:ext cx="7316890" cy="479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406440" rtl="0" eaLnBrk="1" fontAlgn="auto" latinLnBrk="0" hangingPunct="1">
                <a:lnSpc>
                  <a:spcPts val="173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 panose="020B0604020202020204" charset="0"/>
                  <a:ea typeface="HK Grotesk Bold"/>
                  <a:cs typeface="HK Grotesk Bold"/>
                  <a:sym typeface="HK Grotesk Bold"/>
                </a:rPr>
                <a:t>Электронная</a:t>
              </a: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 panose="020B0604020202020204" charset="0"/>
                  <a:ea typeface="HK Grotesk Bold"/>
                  <a:cs typeface="HK Grotesk Bold"/>
                  <a:sym typeface="HK Grotesk Bold"/>
                </a:rPr>
                <a:t> </a:t>
              </a:r>
              <a:r>
                <a:rPr kumimoji="0" lang="en-US" sz="1333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 panose="020B0604020202020204" charset="0"/>
                  <a:ea typeface="HK Grotesk Bold"/>
                  <a:cs typeface="HK Grotesk Bold"/>
                  <a:sym typeface="HK Grotesk Bold"/>
                </a:rPr>
                <a:t>почта</a:t>
              </a:r>
              <a:endPara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 Bold" panose="020B0604020202020204" charset="0"/>
                <a:ea typeface="HK Grotesk Bold"/>
                <a:cs typeface="HK Grotesk Bold"/>
                <a:sym typeface="HK Grotesk Bold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9E9E1C45-568E-49E8-A38E-CD76876F9901}"/>
                </a:ext>
              </a:extLst>
            </p:cNvPr>
            <p:cNvSpPr txBox="1"/>
            <p:nvPr/>
          </p:nvSpPr>
          <p:spPr>
            <a:xfrm>
              <a:off x="0" y="6244485"/>
              <a:ext cx="7316890" cy="5089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406440" rtl="0" eaLnBrk="1" fontAlgn="auto" latinLnBrk="0" hangingPunct="1">
                <a:lnSpc>
                  <a:spcPts val="184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22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@</a:t>
              </a:r>
              <a:r>
                <a:rPr kumimoji="0" lang="en-US" sz="1422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" panose="020B0604020202020204" charset="0"/>
                  <a:ea typeface="Open Sans"/>
                  <a:cs typeface="Open Sans"/>
                  <a:sym typeface="Open Sans"/>
                </a:rPr>
                <a:t>Kordebalet</a:t>
              </a:r>
              <a:endParaRPr kumimoji="0" lang="en-US" sz="1422" b="0" i="0" u="none" strike="noStrike" kern="1200" cap="none" spc="0" normalizeH="0" baseline="0" noProof="0" dirty="0">
                <a:ln>
                  <a:noFill/>
                </a:ln>
                <a:solidFill>
                  <a:srgbClr val="2B4B82"/>
                </a:solidFill>
                <a:effectLst/>
                <a:uLnTx/>
                <a:uFillTx/>
                <a:latin typeface="Evolventa" panose="020B0604020202020204" charset="0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17B416D0-7768-4885-AA3D-D4886D3A6AC4}"/>
                </a:ext>
              </a:extLst>
            </p:cNvPr>
            <p:cNvSpPr txBox="1"/>
            <p:nvPr/>
          </p:nvSpPr>
          <p:spPr>
            <a:xfrm>
              <a:off x="0" y="5405695"/>
              <a:ext cx="7316890" cy="479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406440" rtl="0" eaLnBrk="1" fontAlgn="auto" latinLnBrk="0" hangingPunct="1">
                <a:lnSpc>
                  <a:spcPts val="173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33" b="0" i="0" u="none" strike="noStrike" kern="1200" cap="none" spc="0" normalizeH="0" baseline="0" noProof="0" dirty="0">
                  <a:ln>
                    <a:noFill/>
                  </a:ln>
                  <a:solidFill>
                    <a:srgbClr val="2B4B82"/>
                  </a:solidFill>
                  <a:effectLst/>
                  <a:uLnTx/>
                  <a:uFillTx/>
                  <a:latin typeface="Evolventa Bold" panose="020B0604020202020204" charset="0"/>
                  <a:ea typeface="HK Grotesk Bold"/>
                  <a:cs typeface="HK Grotesk Bold"/>
                  <a:sym typeface="HK Grotesk Bold"/>
                </a:rPr>
                <a:t>Telegram</a:t>
              </a:r>
            </a:p>
          </p:txBody>
        </p:sp>
        <p:sp>
          <p:nvSpPr>
            <p:cNvPr id="16" name="AutoShape 16">
              <a:extLst>
                <a:ext uri="{FF2B5EF4-FFF2-40B4-BE49-F238E27FC236}">
                  <a16:creationId xmlns:a16="http://schemas.microsoft.com/office/drawing/2014/main" id="{26B8CF01-C58E-4CAC-A5C4-766F526C1939}"/>
                </a:ext>
              </a:extLst>
            </p:cNvPr>
            <p:cNvSpPr/>
            <p:nvPr/>
          </p:nvSpPr>
          <p:spPr>
            <a:xfrm>
              <a:off x="0" y="2207170"/>
              <a:ext cx="7316890" cy="0"/>
            </a:xfrm>
            <a:prstGeom prst="line">
              <a:avLst/>
            </a:prstGeom>
            <a:ln w="38100" cap="rnd">
              <a:solidFill>
                <a:srgbClr val="173554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7" name="AutoShape 17">
              <a:extLst>
                <a:ext uri="{FF2B5EF4-FFF2-40B4-BE49-F238E27FC236}">
                  <a16:creationId xmlns:a16="http://schemas.microsoft.com/office/drawing/2014/main" id="{9EA8CE78-E7CE-426B-9351-EB6ECBE8D247}"/>
                </a:ext>
              </a:extLst>
            </p:cNvPr>
            <p:cNvSpPr/>
            <p:nvPr/>
          </p:nvSpPr>
          <p:spPr>
            <a:xfrm>
              <a:off x="0" y="4929067"/>
              <a:ext cx="7316890" cy="0"/>
            </a:xfrm>
            <a:prstGeom prst="line">
              <a:avLst/>
            </a:prstGeom>
            <a:ln w="38100" cap="rnd">
              <a:solidFill>
                <a:srgbClr val="173554"/>
              </a:solidFill>
              <a:prstDash val="sysDot"/>
              <a:headEnd type="none" w="sm" len="sm"/>
              <a:tailEnd type="none" w="sm" len="sm"/>
            </a:ln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34963" y="1244608"/>
            <a:ext cx="5478056" cy="4111337"/>
            <a:chOff x="0" y="-104140"/>
            <a:chExt cx="10956112" cy="6625539"/>
          </a:xfrm>
        </p:grpSpPr>
        <p:sp>
          <p:nvSpPr>
            <p:cNvPr id="3" name="TextBox 3"/>
            <p:cNvSpPr txBox="1"/>
            <p:nvPr/>
          </p:nvSpPr>
          <p:spPr>
            <a:xfrm>
              <a:off x="0" y="911844"/>
              <a:ext cx="10956112" cy="44759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54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5334" b="1" i="0" u="none" strike="noStrike" kern="1200" cap="none" spc="0" normalizeH="0" baseline="0" noProof="0" dirty="0">
                  <a:ln>
                    <a:noFill/>
                  </a:ln>
                  <a:solidFill>
                    <a:srgbClr val="F7B4A7"/>
                  </a:solidFill>
                  <a:effectLst/>
                  <a:uLnTx/>
                  <a:uFillTx/>
                  <a:latin typeface="Evolventa Bold"/>
                  <a:ea typeface="Evolventa Bold"/>
                  <a:cs typeface="Evolventa Bold"/>
                  <a:sym typeface="Evolventa Bold"/>
                </a:rPr>
                <a:t>Назначение и область применения исключений</a:t>
              </a:r>
              <a:endParaRPr kumimoji="0" lang="en-US" sz="5334" b="1" i="0" u="none" strike="noStrike" kern="1200" cap="none" spc="0" normalizeH="0" baseline="0" noProof="0" dirty="0">
                <a:ln>
                  <a:noFill/>
                </a:ln>
                <a:solidFill>
                  <a:srgbClr val="F7B4A7"/>
                </a:solidFill>
                <a:effectLst/>
                <a:uLnTx/>
                <a:uFillTx/>
                <a:latin typeface="Evolventa Bold"/>
                <a:ea typeface="Evolventa Bold"/>
                <a:cs typeface="Evolventa Bold"/>
                <a:sym typeface="Evolventa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140"/>
              <a:ext cx="10956112" cy="4915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20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500" b="0" i="0" u="none" strike="noStrike" kern="1200" cap="none" spc="279" normalizeH="0" baseline="0" noProof="0" dirty="0">
                  <a:ln>
                    <a:noFill/>
                  </a:ln>
                  <a:solidFill>
                    <a:srgbClr val="94DDDE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КАФЕДРА №13</a:t>
              </a:r>
              <a:endParaRPr kumimoji="0" lang="en-US" sz="1500" b="0" i="0" u="none" strike="noStrike" kern="1200" cap="none" spc="279" normalizeH="0" baseline="0" noProof="0" dirty="0">
                <a:ln>
                  <a:noFill/>
                </a:ln>
                <a:solidFill>
                  <a:srgbClr val="94DDDE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5804072"/>
              <a:ext cx="10956112" cy="7173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l" defTabSz="609630" rtl="0" eaLnBrk="1" fontAlgn="auto" latinLnBrk="0" hangingPunct="1">
                <a:lnSpc>
                  <a:spcPts val="387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94DDDE"/>
                  </a:solidFill>
                  <a:effectLst/>
                  <a:uLnTx/>
                  <a:uFillTx/>
                  <a:latin typeface="Evolventa"/>
                  <a:ea typeface="Evolventa"/>
                  <a:cs typeface="Evolventa"/>
                  <a:sym typeface="Evolventa"/>
                </a:rPr>
                <a:t>ЛИТВИНОВ ВЛАДИСЛАВ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4DDDE"/>
                </a:solidFill>
                <a:effectLst/>
                <a:uLnTx/>
                <a:uFillTx/>
                <a:latin typeface="Evolventa"/>
                <a:ea typeface="Evolventa"/>
                <a:cs typeface="Evolventa"/>
                <a:sym typeface="Evolventa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788556" y="-1281163"/>
            <a:ext cx="4503761" cy="2743200"/>
          </a:xfrm>
          <a:custGeom>
            <a:avLst/>
            <a:gdLst/>
            <a:ahLst/>
            <a:cxnLst/>
            <a:rect l="l" t="t" r="r" b="b"/>
            <a:pathLst>
              <a:path w="6755642" h="4114800">
                <a:moveTo>
                  <a:pt x="0" y="0"/>
                </a:moveTo>
                <a:lnTo>
                  <a:pt x="6755642" y="0"/>
                </a:lnTo>
                <a:lnTo>
                  <a:pt x="67556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202556" y="1193807"/>
            <a:ext cx="796218" cy="1724095"/>
          </a:xfrm>
          <a:custGeom>
            <a:avLst/>
            <a:gdLst/>
            <a:ahLst/>
            <a:cxnLst/>
            <a:rect l="l" t="t" r="r" b="b"/>
            <a:pathLst>
              <a:path w="1194327" h="2586142">
                <a:moveTo>
                  <a:pt x="0" y="0"/>
                </a:moveTo>
                <a:lnTo>
                  <a:pt x="1194327" y="0"/>
                </a:lnTo>
                <a:lnTo>
                  <a:pt x="1194327" y="2586142"/>
                </a:lnTo>
                <a:lnTo>
                  <a:pt x="0" y="2586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396794" y="1347436"/>
            <a:ext cx="3571835" cy="3727722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5357753" y="0"/>
                </a:moveTo>
                <a:lnTo>
                  <a:pt x="0" y="0"/>
                </a:lnTo>
                <a:lnTo>
                  <a:pt x="0" y="5591582"/>
                </a:lnTo>
                <a:lnTo>
                  <a:pt x="5357753" y="5591582"/>
                </a:lnTo>
                <a:lnTo>
                  <a:pt x="53577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631432" y="842951"/>
            <a:ext cx="2096026" cy="1627279"/>
          </a:xfrm>
          <a:custGeom>
            <a:avLst/>
            <a:gdLst/>
            <a:ahLst/>
            <a:cxnLst/>
            <a:rect l="l" t="t" r="r" b="b"/>
            <a:pathLst>
              <a:path w="3144039" h="2440918">
                <a:moveTo>
                  <a:pt x="0" y="0"/>
                </a:moveTo>
                <a:lnTo>
                  <a:pt x="3144040" y="0"/>
                </a:lnTo>
                <a:lnTo>
                  <a:pt x="3144040" y="2440918"/>
                </a:lnTo>
                <a:lnTo>
                  <a:pt x="0" y="24409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16582" y="3337200"/>
            <a:ext cx="1262863" cy="2835000"/>
          </a:xfrm>
          <a:custGeom>
            <a:avLst/>
            <a:gdLst/>
            <a:ahLst/>
            <a:cxnLst/>
            <a:rect l="l" t="t" r="r" b="b"/>
            <a:pathLst>
              <a:path w="1894295" h="4252500">
                <a:moveTo>
                  <a:pt x="0" y="0"/>
                </a:moveTo>
                <a:lnTo>
                  <a:pt x="1894295" y="0"/>
                </a:lnTo>
                <a:lnTo>
                  <a:pt x="1894295" y="4252500"/>
                </a:lnTo>
                <a:lnTo>
                  <a:pt x="0" y="42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674535" y="5075157"/>
            <a:ext cx="2324239" cy="27432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8" y="0"/>
                </a:lnTo>
                <a:lnTo>
                  <a:pt x="34863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414186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519</Words>
  <Application>Microsoft Office PowerPoint</Application>
  <PresentationFormat>Широкоэкранный</PresentationFormat>
  <Paragraphs>86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Evolventa</vt:lpstr>
      <vt:lpstr>Evolventa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21</cp:revision>
  <dcterms:created xsi:type="dcterms:W3CDTF">2025-04-22T06:44:29Z</dcterms:created>
  <dcterms:modified xsi:type="dcterms:W3CDTF">2025-04-22T09:32:25Z</dcterms:modified>
</cp:coreProperties>
</file>